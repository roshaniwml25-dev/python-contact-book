
<file path=[Content_Types].xml><?xml version="1.0" encoding="utf-8"?>
<Types xmlns="http://schemas.openxmlformats.org/package/2006/content-types">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5" r:id="rId1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Progress</c:v>
                </c:pt>
              </c:strCache>
            </c:strRef>
          </c:tx>
          <c:spPr>
            <a:solidFill>
              <a:schemeClr val="accent1"/>
            </a:solidFill>
            <a:ln w="9525" cap="flat">
              <a:solidFill>
                <a:srgbClr val="F9F9F9"/>
              </a:solidFill>
              <a:prstDash val="solid"/>
              <a:round/>
            </a:ln>
            <a:effectLst/>
          </c:spPr>
          <c:dPt>
            <c:idx val="0"/>
            <c:bubble3D val="0"/>
            <c:spPr>
              <a:solidFill>
                <a:srgbClr val="1B365D"/>
              </a:solidFill>
              <a:ln w="9525" cap="flat">
                <a:solidFill>
                  <a:srgbClr val="FFFFFF"/>
                </a:solidFill>
                <a:prstDash val="solid"/>
                <a:round/>
              </a:ln>
              <a:effectLst/>
            </c:spPr>
            <c:extLst>
              <c:ext xmlns:c16="http://schemas.microsoft.com/office/drawing/2014/chart" uri="{C3380CC4-5D6E-409C-BE32-E72D297353CC}">
                <c16:uniqueId val="{00000001-7CEA-47FC-A4FB-3E6C58DA63EF}"/>
              </c:ext>
            </c:extLst>
          </c:dPt>
          <c:dPt>
            <c:idx val="1"/>
            <c:bubble3D val="0"/>
            <c:spPr>
              <a:solidFill>
                <a:srgbClr val="D5DEE0"/>
              </a:solidFill>
              <a:ln w="9525" cap="flat">
                <a:solidFill>
                  <a:srgbClr val="FFFFFF"/>
                </a:solidFill>
                <a:prstDash val="solid"/>
                <a:round/>
              </a:ln>
              <a:effectLst/>
            </c:spPr>
            <c:extLst>
              <c:ext xmlns:c16="http://schemas.microsoft.com/office/drawing/2014/chart" uri="{C3380CC4-5D6E-409C-BE32-E72D297353CC}">
                <c16:uniqueId val="{00000003-7CEA-47FC-A4FB-3E6C58DA63EF}"/>
              </c:ext>
            </c:extLst>
          </c:dPt>
          <c:cat>
            <c:strRef>
              <c:f>Sheet1!$A$2:$A$3</c:f>
              <c:strCache>
                <c:ptCount val="2"/>
                <c:pt idx="0">
                  <c:v>Completed</c:v>
                </c:pt>
                <c:pt idx="1">
                  <c:v>Remaining</c:v>
                </c:pt>
              </c:strCache>
            </c:strRef>
          </c:cat>
          <c:val>
            <c:numRef>
              <c:f>Sheet1!$B$2:$B$3</c:f>
              <c:numCache>
                <c:formatCode>General</c:formatCode>
                <c:ptCount val="2"/>
                <c:pt idx="0">
                  <c:v>7</c:v>
                </c:pt>
                <c:pt idx="1">
                  <c:v>3</c:v>
                </c:pt>
              </c:numCache>
            </c:numRef>
          </c:val>
          <c:extLst>
            <c:ext xmlns:c16="http://schemas.microsoft.com/office/drawing/2014/chart" uri="{C3380CC4-5D6E-409C-BE32-E72D297353CC}">
              <c16:uniqueId val="{00000004-7CEA-47FC-A4FB-3E6C58DA63EF}"/>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9394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is 70%: 7 of the 10 planned tasks are finished and tested (all five menu operations, JSON file handling, validation/exception handling and 11 unit tests). Remaining: CSV export/backup, sort/filter options and final documentation.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contact is a dictionary with name, phone and email. The whole book is a list of these dictionaries, saved as JSON. Every operation is its own function, and main() only dispatches to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load_contacts() runs at start-up and save_contacts() after every operation, so data survives when the program closes. A missing or corrupt file never crashes the app.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add_contact() returns (success, message) so the menu can print the result. Validation runs before anything is stored. Search matches part of a name or a phone number.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functions look the contact up by name (case-insensitive). Pressing Enter at a prompt skips that field, so only the changed value is updated.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user input is validated before it changes the contact list, and every file or keyboard failure is caught so the program never shows a traceback.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python contact_book.py. First contact is added, the second attempt fails because the phone has only 5 digits, then it is added correctly.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Exit the data is written to contacts.json. Running the program again and choosing View shows the same saved contact, proving permanent storage.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 rows cover 11 unit tests in test_contact_book.py (the Edit row covers two). All pass.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stages follow the plan from Phase 1. Open the repository on screen during the viva and show the commit history and the README.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60460-A466-D263-01D4-813D5D3ED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2FB68-19AC-42AB-2AA7-2C221FDBB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A2C3EC-64AC-2004-CB37-BD0A1A09224E}"/>
              </a:ext>
            </a:extLst>
          </p:cNvPr>
          <p:cNvSpPr>
            <a:spLocks noGrp="1"/>
          </p:cNvSpPr>
          <p:nvPr>
            <p:ph type="body" idx="1"/>
          </p:nvPr>
        </p:nvSpPr>
        <p:spPr/>
        <p:txBody>
          <a:bodyPr/>
          <a:lstStyle/>
          <a:p>
            <a:r>
              <a:rPr lang="en-US" dirty="0"/>
              <a:t>The 10 rows cover 11 unit tests in test_contact_book.py (the Edit row covers two). All pass.</a:t>
            </a:r>
          </a:p>
        </p:txBody>
      </p:sp>
      <p:sp>
        <p:nvSpPr>
          <p:cNvPr id="4" name="Slide Number Placeholder 3">
            <a:extLst>
              <a:ext uri="{FF2B5EF4-FFF2-40B4-BE49-F238E27FC236}">
                <a16:creationId xmlns:a16="http://schemas.microsoft.com/office/drawing/2014/main" id="{765355D8-D300-F7C7-8B0D-5A4995F0D4A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435822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solidFill>
          <a:ln w="12700">
            <a:solidFill>
              <a:srgbClr val="8FAAAD"/>
            </a:solidFill>
            <a:prstDash val="solid"/>
          </a:ln>
        </p:spPr>
      </p:sp>
      <p:sp>
        <p:nvSpPr>
          <p:cNvPr id="3" name="Shape 1"/>
          <p:cNvSpPr/>
          <p:nvPr/>
        </p:nvSpPr>
        <p:spPr>
          <a:xfrm>
            <a:off x="73152" y="6263640"/>
            <a:ext cx="8997696" cy="521208"/>
          </a:xfrm>
          <a:prstGeom prst="rect">
            <a:avLst/>
          </a:prstGeom>
          <a:solidFill>
            <a:srgbClr val="8FAAAD"/>
          </a:solidFill>
          <a:ln w="12700">
            <a:solidFill>
              <a:srgbClr val="8FAAAD"/>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solidFill>
          <a:ln w="12700">
            <a:solidFill>
              <a:srgbClr val="8FAAAD"/>
            </a:solidFill>
            <a:prstDash val="solid"/>
          </a:ln>
        </p:spPr>
      </p:sp>
      <p:sp>
        <p:nvSpPr>
          <p:cNvPr id="3" name="Shape 1"/>
          <p:cNvSpPr/>
          <p:nvPr/>
        </p:nvSpPr>
        <p:spPr>
          <a:xfrm>
            <a:off x="73152" y="6263640"/>
            <a:ext cx="8997696" cy="521208"/>
          </a:xfrm>
          <a:prstGeom prst="rect">
            <a:avLst/>
          </a:prstGeom>
          <a:solidFill>
            <a:srgbClr val="8FAAAD"/>
          </a:solidFill>
          <a:ln w="12700">
            <a:solidFill>
              <a:srgbClr val="8FAAAD"/>
            </a:solidFill>
            <a:prstDash val="solid"/>
          </a:ln>
        </p:spPr>
      </p:sp>
      <p:sp>
        <p:nvSpPr>
          <p:cNvPr id="4" name="Text 2"/>
          <p:cNvSpPr/>
          <p:nvPr/>
        </p:nvSpPr>
        <p:spPr>
          <a:xfrm>
            <a:off x="274320" y="6309360"/>
            <a:ext cx="6858000" cy="429768"/>
          </a:xfrm>
          <a:prstGeom prst="rect">
            <a:avLst/>
          </a:prstGeom>
          <a:noFill/>
          <a:ln/>
        </p:spPr>
        <p:txBody>
          <a:bodyPr wrap="square" lIns="0" tIns="0" rIns="0" bIns="0" rtlCol="0" anchor="ctr"/>
          <a:lstStyle/>
          <a:p>
            <a:pPr marL="0" indent="0">
              <a:buNone/>
            </a:pPr>
            <a:r>
              <a:rPr lang="en-US" sz="1600" dirty="0">
                <a:solidFill>
                  <a:srgbClr val="1F2D3D"/>
                </a:solidFill>
                <a:latin typeface="Times New Roman" pitchFamily="34" charset="0"/>
                <a:ea typeface="Times New Roman" pitchFamily="34" charset="-122"/>
                <a:cs typeface="Times New Roman" pitchFamily="34" charset="-120"/>
              </a:rPr>
              <a:t>S. B. Jain Institute of Technology Management and research</a:t>
            </a:r>
            <a:endParaRPr lang="en-US" sz="16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B365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lgn="ctr">
              <a:buNone/>
            </a:pPr>
            <a:r>
              <a:rPr lang="en-US" sz="3600" b="1" dirty="0">
                <a:solidFill>
                  <a:srgbClr val="000000"/>
                </a:solidFill>
                <a:latin typeface="Times New Roman" pitchFamily="34" charset="0"/>
                <a:ea typeface="Times New Roman" pitchFamily="34" charset="-122"/>
                <a:cs typeface="Times New Roman" pitchFamily="34" charset="-120"/>
              </a:rPr>
              <a:t>Experiential Learning</a:t>
            </a:r>
            <a:endParaRPr lang="en-US" sz="3600" dirty="0"/>
          </a:p>
        </p:txBody>
      </p:sp>
      <p:sp>
        <p:nvSpPr>
          <p:cNvPr id="3" name="Text 1"/>
          <p:cNvSpPr txBox="1"/>
          <p:nvPr/>
        </p:nvSpPr>
        <p:spPr>
          <a:xfrm>
            <a:off x="457200" y="749808"/>
            <a:ext cx="8229600" cy="548640"/>
          </a:xfrm>
          <a:prstGeom prst="rect">
            <a:avLst/>
          </a:prstGeom>
          <a:noFill/>
          <a:ln/>
        </p:spPr>
        <p:txBody>
          <a:bodyPr wrap="square" lIns="0" tIns="0" rIns="0" bIns="0" rtlCol="0" anchor="ctr"/>
          <a:lstStyle/>
          <a:p>
            <a:pPr marL="0" indent="0" algn="ctr">
              <a:buNone/>
            </a:pPr>
            <a:r>
              <a:rPr lang="en-US" sz="3600" b="1" dirty="0">
                <a:solidFill>
                  <a:srgbClr val="000000"/>
                </a:solidFill>
                <a:latin typeface="Times New Roman" pitchFamily="34" charset="0"/>
                <a:ea typeface="Times New Roman" pitchFamily="34" charset="-122"/>
                <a:cs typeface="Times New Roman" pitchFamily="34" charset="-120"/>
              </a:rPr>
              <a:t>Project Assessment-I &amp; II</a:t>
            </a:r>
            <a:endParaRPr lang="en-US" sz="3600" dirty="0"/>
          </a:p>
        </p:txBody>
      </p:sp>
      <p:sp>
        <p:nvSpPr>
          <p:cNvPr id="4" name="Text 2"/>
          <p:cNvSpPr txBox="1"/>
          <p:nvPr/>
        </p:nvSpPr>
        <p:spPr>
          <a:xfrm>
            <a:off x="457200" y="1280160"/>
            <a:ext cx="8229600" cy="411480"/>
          </a:xfrm>
          <a:prstGeom prst="rect">
            <a:avLst/>
          </a:prstGeom>
          <a:noFill/>
          <a:ln/>
        </p:spPr>
        <p:txBody>
          <a:bodyPr wrap="square" lIns="0" tIns="0" rIns="0" bIns="0" rtlCol="0" anchor="ctr"/>
          <a:lstStyle/>
          <a:p>
            <a:pPr marL="0" indent="0" algn="ctr">
              <a:buNone/>
            </a:pPr>
            <a:r>
              <a:rPr lang="en-US" sz="2600" b="1" dirty="0">
                <a:solidFill>
                  <a:srgbClr val="000000"/>
                </a:solidFill>
                <a:latin typeface="Times New Roman" pitchFamily="34" charset="0"/>
                <a:ea typeface="Times New Roman" pitchFamily="34" charset="-122"/>
                <a:cs typeface="Times New Roman" pitchFamily="34" charset="-120"/>
              </a:rPr>
              <a:t>on</a:t>
            </a:r>
            <a:endParaRPr lang="en-US" sz="2600" dirty="0"/>
          </a:p>
        </p:txBody>
      </p:sp>
      <p:sp>
        <p:nvSpPr>
          <p:cNvPr id="5" name="Text 3"/>
          <p:cNvSpPr txBox="1"/>
          <p:nvPr/>
        </p:nvSpPr>
        <p:spPr>
          <a:xfrm>
            <a:off x="457200" y="1719072"/>
            <a:ext cx="8229600" cy="36576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pitchFamily="34" charset="0"/>
                <a:ea typeface="Arial" pitchFamily="34" charset="-122"/>
                <a:cs typeface="Arial" pitchFamily="34" charset="-120"/>
              </a:rPr>
              <a:t>“Create Contact Book using Python”</a:t>
            </a:r>
            <a:endParaRPr lang="en-US" sz="1800" dirty="0"/>
          </a:p>
        </p:txBody>
      </p:sp>
      <p:sp>
        <p:nvSpPr>
          <p:cNvPr id="6" name="Text 4"/>
          <p:cNvSpPr txBox="1"/>
          <p:nvPr/>
        </p:nvSpPr>
        <p:spPr>
          <a:xfrm>
            <a:off x="457200" y="2148840"/>
            <a:ext cx="8229600" cy="365760"/>
          </a:xfrm>
          <a:prstGeom prst="rect">
            <a:avLst/>
          </a:prstGeom>
          <a:noFill/>
          <a:ln/>
        </p:spPr>
        <p:txBody>
          <a:bodyPr wrap="square" lIns="0" tIns="0" rIns="0" bIns="0" rtlCol="0" anchor="ctr"/>
          <a:lstStyle/>
          <a:p>
            <a:pPr marL="0" indent="0" algn="ctr">
              <a:buNone/>
            </a:pPr>
            <a:r>
              <a:rPr lang="en-US" sz="2200" b="1" dirty="0">
                <a:solidFill>
                  <a:srgbClr val="0000FF"/>
                </a:solidFill>
                <a:latin typeface="Times New Roman" pitchFamily="34" charset="0"/>
                <a:ea typeface="Times New Roman" pitchFamily="34" charset="-122"/>
                <a:cs typeface="Times New Roman" pitchFamily="34" charset="-120"/>
              </a:rPr>
              <a:t>under the course</a:t>
            </a:r>
            <a:endParaRPr lang="en-US" sz="2200" dirty="0"/>
          </a:p>
        </p:txBody>
      </p:sp>
      <p:sp>
        <p:nvSpPr>
          <p:cNvPr id="7" name="Text 5"/>
          <p:cNvSpPr txBox="1"/>
          <p:nvPr/>
        </p:nvSpPr>
        <p:spPr>
          <a:xfrm>
            <a:off x="457200" y="2514600"/>
            <a:ext cx="8229600" cy="365760"/>
          </a:xfrm>
          <a:prstGeom prst="rect">
            <a:avLst/>
          </a:prstGeom>
          <a:noFill/>
          <a:ln/>
        </p:spPr>
        <p:txBody>
          <a:bodyPr wrap="square" lIns="0" tIns="0" rIns="0" bIns="0" rtlCol="0" anchor="ctr"/>
          <a:lstStyle/>
          <a:p>
            <a:pPr marL="0" indent="0" algn="ctr">
              <a:buNone/>
            </a:pPr>
            <a:r>
              <a:rPr lang="en-US" sz="2200" b="1" dirty="0">
                <a:solidFill>
                  <a:srgbClr val="0000FF"/>
                </a:solidFill>
                <a:latin typeface="Times New Roman" pitchFamily="34" charset="0"/>
                <a:ea typeface="Times New Roman" pitchFamily="34" charset="-122"/>
                <a:cs typeface="Times New Roman" pitchFamily="34" charset="-120"/>
              </a:rPr>
              <a:t>Python Programming Language (N-PCCCM304P)</a:t>
            </a:r>
            <a:endParaRPr lang="en-US" sz="2200" dirty="0"/>
          </a:p>
        </p:txBody>
      </p:sp>
      <p:sp>
        <p:nvSpPr>
          <p:cNvPr id="8" name="Text 6"/>
          <p:cNvSpPr txBox="1"/>
          <p:nvPr/>
        </p:nvSpPr>
        <p:spPr>
          <a:xfrm>
            <a:off x="365760" y="3337560"/>
            <a:ext cx="2926080" cy="365760"/>
          </a:xfrm>
          <a:prstGeom prst="rect">
            <a:avLst/>
          </a:prstGeom>
          <a:noFill/>
          <a:ln/>
        </p:spPr>
        <p:txBody>
          <a:bodyPr wrap="square" lIns="0" tIns="0" rIns="0" bIns="0"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Presented By</a:t>
            </a:r>
            <a:endParaRPr lang="en-US" sz="2200" dirty="0"/>
          </a:p>
        </p:txBody>
      </p:sp>
      <p:sp>
        <p:nvSpPr>
          <p:cNvPr id="9" name="Text 7"/>
          <p:cNvSpPr txBox="1"/>
          <p:nvPr/>
        </p:nvSpPr>
        <p:spPr>
          <a:xfrm>
            <a:off x="365760" y="3749040"/>
            <a:ext cx="2926080" cy="274320"/>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Roshani B. Wankhede</a:t>
            </a:r>
            <a:endParaRPr lang="en-US" sz="1600" dirty="0"/>
          </a:p>
        </p:txBody>
      </p:sp>
      <p:sp>
        <p:nvSpPr>
          <p:cNvPr id="10" name="Text 8"/>
          <p:cNvSpPr txBox="1"/>
          <p:nvPr/>
        </p:nvSpPr>
        <p:spPr>
          <a:xfrm>
            <a:off x="365760" y="4023360"/>
            <a:ext cx="2926080" cy="274320"/>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(CM25047)</a:t>
            </a:r>
            <a:endParaRPr lang="en-US" sz="1600" dirty="0"/>
          </a:p>
        </p:txBody>
      </p:sp>
      <p:pic>
        <p:nvPicPr>
          <p:cNvPr id="11" name="Image 0" descr="/home/claude/logo.jpg"/>
          <p:cNvPicPr>
            <a:picLocks noChangeAspect="1"/>
          </p:cNvPicPr>
          <p:nvPr/>
        </p:nvPicPr>
        <p:blipFill>
          <a:blip r:embed="rId3"/>
          <a:stretch>
            <a:fillRect/>
          </a:stretch>
        </p:blipFill>
        <p:spPr>
          <a:xfrm>
            <a:off x="3858768" y="3017520"/>
            <a:ext cx="1426464" cy="1600200"/>
          </a:xfrm>
          <a:prstGeom prst="rect">
            <a:avLst/>
          </a:prstGeom>
        </p:spPr>
      </p:pic>
      <p:sp>
        <p:nvSpPr>
          <p:cNvPr id="12" name="Text 9"/>
          <p:cNvSpPr txBox="1"/>
          <p:nvPr/>
        </p:nvSpPr>
        <p:spPr>
          <a:xfrm>
            <a:off x="5852160" y="3337560"/>
            <a:ext cx="3017520" cy="365760"/>
          </a:xfrm>
          <a:prstGeom prst="rect">
            <a:avLst/>
          </a:prstGeom>
          <a:noFill/>
          <a:ln/>
        </p:spPr>
        <p:txBody>
          <a:bodyPr wrap="square" lIns="0" tIns="0" rIns="0" bIns="0"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Under the Guidance</a:t>
            </a:r>
            <a:endParaRPr lang="en-US" sz="2200" dirty="0"/>
          </a:p>
        </p:txBody>
      </p:sp>
      <p:sp>
        <p:nvSpPr>
          <p:cNvPr id="13" name="Text 10"/>
          <p:cNvSpPr txBox="1"/>
          <p:nvPr/>
        </p:nvSpPr>
        <p:spPr>
          <a:xfrm>
            <a:off x="5852160" y="3703320"/>
            <a:ext cx="3017520" cy="365760"/>
          </a:xfrm>
          <a:prstGeom prst="rect">
            <a:avLst/>
          </a:prstGeom>
          <a:noFill/>
          <a:ln/>
        </p:spPr>
        <p:txBody>
          <a:bodyPr wrap="square" lIns="0" tIns="0" rIns="0" bIns="0"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of</a:t>
            </a:r>
            <a:endParaRPr lang="en-US" sz="2200" dirty="0"/>
          </a:p>
        </p:txBody>
      </p:sp>
      <p:sp>
        <p:nvSpPr>
          <p:cNvPr id="14" name="Text 11"/>
          <p:cNvSpPr txBox="1"/>
          <p:nvPr/>
        </p:nvSpPr>
        <p:spPr>
          <a:xfrm>
            <a:off x="5852160" y="4069080"/>
            <a:ext cx="3017520" cy="365760"/>
          </a:xfrm>
          <a:prstGeom prst="rect">
            <a:avLst/>
          </a:prstGeom>
          <a:noFill/>
          <a:ln/>
        </p:spPr>
        <p:txBody>
          <a:bodyPr wrap="square" lIns="0" tIns="0" rIns="0" bIns="0"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Mrs. Mayuri Getme</a:t>
            </a:r>
            <a:endParaRPr lang="en-US" sz="2200" dirty="0"/>
          </a:p>
        </p:txBody>
      </p:sp>
      <p:sp>
        <p:nvSpPr>
          <p:cNvPr id="15" name="Text 12"/>
          <p:cNvSpPr txBox="1"/>
          <p:nvPr/>
        </p:nvSpPr>
        <p:spPr>
          <a:xfrm>
            <a:off x="457200" y="4754880"/>
            <a:ext cx="8229600" cy="365760"/>
          </a:xfrm>
          <a:prstGeom prst="rect">
            <a:avLst/>
          </a:prstGeom>
          <a:noFill/>
          <a:ln/>
        </p:spPr>
        <p:txBody>
          <a:bodyPr wrap="square" lIns="0" tIns="0" rIns="0" bIns="0"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Session:2026-27 (ODD)</a:t>
            </a:r>
            <a:endParaRPr lang="en-US" sz="2400" dirty="0"/>
          </a:p>
        </p:txBody>
      </p:sp>
      <p:sp>
        <p:nvSpPr>
          <p:cNvPr id="16" name="Text 13"/>
          <p:cNvSpPr txBox="1"/>
          <p:nvPr/>
        </p:nvSpPr>
        <p:spPr>
          <a:xfrm>
            <a:off x="457200" y="5120640"/>
            <a:ext cx="8229600" cy="274320"/>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Department of CSE(AI&amp;ML)</a:t>
            </a:r>
            <a:endParaRPr lang="en-US" sz="1600" dirty="0"/>
          </a:p>
        </p:txBody>
      </p:sp>
      <p:sp>
        <p:nvSpPr>
          <p:cNvPr id="17" name="Text 14"/>
          <p:cNvSpPr txBox="1"/>
          <p:nvPr/>
        </p:nvSpPr>
        <p:spPr>
          <a:xfrm>
            <a:off x="640080" y="5440680"/>
            <a:ext cx="7863840" cy="502920"/>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S. B. JAIN INSTITUTE OF TECHNOLOGY MANAGEMENT AND RESEARCH, NAGPUR</a:t>
            </a:r>
            <a:endParaRPr lang="en-US" sz="1600" dirty="0"/>
          </a:p>
        </p:txBody>
      </p:sp>
      <p:sp>
        <p:nvSpPr>
          <p:cNvPr id="18" name="Text 15"/>
          <p:cNvSpPr txBox="1"/>
          <p:nvPr/>
        </p:nvSpPr>
        <p:spPr>
          <a:xfrm>
            <a:off x="457200" y="5943600"/>
            <a:ext cx="8229600" cy="256032"/>
          </a:xfrm>
          <a:prstGeom prst="rect">
            <a:avLst/>
          </a:prstGeom>
          <a:noFill/>
          <a:ln/>
        </p:spPr>
        <p:txBody>
          <a:bodyPr wrap="square" lIns="0" tIns="0" rIns="0" bIns="0"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An Autonomous Institute, Affiliated to RTMNU, Nagpur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Problem statement</a:t>
            </a:r>
            <a:endParaRPr lang="en-US" sz="3000" dirty="0"/>
          </a:p>
        </p:txBody>
      </p:sp>
      <p:sp>
        <p:nvSpPr>
          <p:cNvPr id="3" name="Text 1"/>
          <p:cNvSpPr txBox="1"/>
          <p:nvPr/>
        </p:nvSpPr>
        <p:spPr>
          <a:xfrm>
            <a:off x="640080" y="1097280"/>
            <a:ext cx="7863840" cy="274320"/>
          </a:xfrm>
          <a:prstGeom prst="rect">
            <a:avLst/>
          </a:prstGeom>
          <a:noFill/>
          <a:ln/>
        </p:spPr>
        <p:txBody>
          <a:bodyPr wrap="square" lIns="0" tIns="0" rIns="0" bIns="0" rtlCol="0" anchor="ctr"/>
          <a:lstStyle/>
          <a:p>
            <a:pPr marL="0" indent="0">
              <a:buNone/>
            </a:pPr>
            <a:r>
              <a:rPr lang="en-US" sz="1500" b="1" dirty="0">
                <a:solidFill>
                  <a:srgbClr val="000000"/>
                </a:solidFill>
                <a:latin typeface="Times New Roman" pitchFamily="34" charset="0"/>
                <a:ea typeface="Times New Roman" pitchFamily="34" charset="-122"/>
                <a:cs typeface="Times New Roman" pitchFamily="34" charset="-120"/>
              </a:rPr>
              <a:t>Create Contact Book using Python :</a:t>
            </a:r>
            <a:endParaRPr lang="en-US" sz="1500" dirty="0"/>
          </a:p>
        </p:txBody>
      </p:sp>
      <p:sp>
        <p:nvSpPr>
          <p:cNvPr id="4" name="Text 2"/>
          <p:cNvSpPr txBox="1"/>
          <p:nvPr/>
        </p:nvSpPr>
        <p:spPr>
          <a:xfrm>
            <a:off x="640080" y="1417320"/>
            <a:ext cx="7863840" cy="1737360"/>
          </a:xfrm>
          <a:prstGeom prst="rect">
            <a:avLst/>
          </a:prstGeom>
          <a:noFill/>
          <a:ln/>
        </p:spPr>
        <p:txBody>
          <a:bodyPr wrap="square" lIns="0" tIns="0" rIns="0" bIns="0" rtlCol="0" anchor="t"/>
          <a:lstStyle/>
          <a:p>
            <a:pPr marL="0" indent="0">
              <a:lnSpc>
                <a:spcPct val="105000"/>
              </a:lnSpc>
              <a:buNone/>
            </a:pPr>
            <a:r>
              <a:rPr lang="en-US" sz="1450" dirty="0">
                <a:solidFill>
                  <a:srgbClr val="000000"/>
                </a:solidFill>
                <a:latin typeface="Times New Roman" pitchFamily="34" charset="0"/>
                <a:ea typeface="Times New Roman" pitchFamily="34" charset="-122"/>
                <a:cs typeface="Times New Roman" pitchFamily="34" charset="-120"/>
              </a:rPr>
              <a:t>Develop a Python-based Contact Book that enables users to efficiently store, organize, search, update, and manage personal or professional contact information. The application should allow users to add new contacts, edit existing contact details, search contacts by name or phone number, delete unwanted contacts, and display all saved contacts. The system should permanently store contact records using file handling or a database, ensuring that information is retained even after the application is closed. The application should provide a simple, menu-driven, and user-friendly interface while demonstrating fundamental Python programming concepts.</a:t>
            </a:r>
            <a:endParaRPr lang="en-US" sz="1450" dirty="0"/>
          </a:p>
        </p:txBody>
      </p:sp>
      <p:sp>
        <p:nvSpPr>
          <p:cNvPr id="5" name="Text 3"/>
          <p:cNvSpPr txBox="1"/>
          <p:nvPr/>
        </p:nvSpPr>
        <p:spPr>
          <a:xfrm>
            <a:off x="548640" y="3291840"/>
            <a:ext cx="8046720" cy="457200"/>
          </a:xfrm>
          <a:prstGeom prst="rect">
            <a:avLst/>
          </a:prstGeom>
          <a:noFill/>
          <a:ln/>
        </p:spPr>
        <p:txBody>
          <a:bodyPr wrap="square" lIns="0" tIns="0" rIns="0" bIns="0" rtlCol="0" anchor="ctr"/>
          <a:lstStyle/>
          <a:p>
            <a:pPr marL="0" indent="0">
              <a:buNone/>
            </a:pPr>
            <a:r>
              <a:rPr lang="en-US" sz="2400" b="1" dirty="0">
                <a:solidFill>
                  <a:srgbClr val="111111"/>
                </a:solidFill>
                <a:latin typeface="Arial" pitchFamily="34" charset="0"/>
                <a:ea typeface="Arial" pitchFamily="34" charset="-122"/>
                <a:cs typeface="Arial" pitchFamily="34" charset="-120"/>
              </a:rPr>
              <a:t>Objectives</a:t>
            </a:r>
            <a:endParaRPr lang="en-US" sz="2400" dirty="0"/>
          </a:p>
        </p:txBody>
      </p:sp>
      <p:sp>
        <p:nvSpPr>
          <p:cNvPr id="6" name="Text 4"/>
          <p:cNvSpPr txBox="1"/>
          <p:nvPr/>
        </p:nvSpPr>
        <p:spPr>
          <a:xfrm>
            <a:off x="640080" y="3840480"/>
            <a:ext cx="7863840" cy="228600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rgbClr val="1F2937"/>
                </a:solidFill>
                <a:latin typeface="Arial" pitchFamily="34" charset="0"/>
                <a:ea typeface="Arial" pitchFamily="34" charset="-122"/>
                <a:cs typeface="Arial" pitchFamily="34" charset="-120"/>
              </a:rPr>
              <a:t>Develop a simple Python-based contact management system.</a:t>
            </a:r>
            <a:endParaRPr lang="en-US" sz="1600" dirty="0"/>
          </a:p>
          <a:p>
            <a:pPr marL="228600" indent="-228600">
              <a:spcAft>
                <a:spcPts val="900"/>
              </a:spcAft>
              <a:buSzPct val="100000"/>
              <a:buChar char="•"/>
            </a:pPr>
            <a:r>
              <a:rPr lang="en-US" sz="1600" dirty="0">
                <a:solidFill>
                  <a:srgbClr val="1F2937"/>
                </a:solidFill>
                <a:latin typeface="Arial" pitchFamily="34" charset="0"/>
                <a:ea typeface="Arial" pitchFamily="34" charset="-122"/>
                <a:cs typeface="Arial" pitchFamily="34" charset="-120"/>
              </a:rPr>
              <a:t>Store contact details in an organized structure.</a:t>
            </a:r>
            <a:endParaRPr lang="en-US" sz="1600" dirty="0"/>
          </a:p>
          <a:p>
            <a:pPr marL="228600" indent="-228600">
              <a:spcAft>
                <a:spcPts val="900"/>
              </a:spcAft>
              <a:buSzPct val="100000"/>
              <a:buChar char="•"/>
            </a:pPr>
            <a:r>
              <a:rPr lang="en-US" sz="1600" dirty="0">
                <a:solidFill>
                  <a:srgbClr val="1F2937"/>
                </a:solidFill>
                <a:latin typeface="Arial" pitchFamily="34" charset="0"/>
                <a:ea typeface="Arial" pitchFamily="34" charset="-122"/>
                <a:cs typeface="Arial" pitchFamily="34" charset="-120"/>
              </a:rPr>
              <a:t>Provide Add, View, Search, Edit and Delete operations.</a:t>
            </a:r>
            <a:endParaRPr lang="en-US" sz="1600" dirty="0"/>
          </a:p>
          <a:p>
            <a:pPr marL="228600" indent="-228600">
              <a:spcAft>
                <a:spcPts val="900"/>
              </a:spcAft>
              <a:buSzPct val="100000"/>
              <a:buChar char="•"/>
            </a:pPr>
            <a:r>
              <a:rPr lang="en-US" sz="1600" dirty="0">
                <a:solidFill>
                  <a:srgbClr val="1F2937"/>
                </a:solidFill>
                <a:latin typeface="Arial" pitchFamily="34" charset="0"/>
                <a:ea typeface="Arial" pitchFamily="34" charset="-122"/>
                <a:cs typeface="Arial" pitchFamily="34" charset="-120"/>
              </a:rPr>
              <a:t>Use file handling for permanent storage of contact information.</a:t>
            </a:r>
            <a:endParaRPr lang="en-US" sz="1600" dirty="0"/>
          </a:p>
          <a:p>
            <a:pPr marL="228600" indent="-228600">
              <a:spcAft>
                <a:spcPts val="900"/>
              </a:spcAft>
              <a:buSzPct val="100000"/>
              <a:buChar char="•"/>
            </a:pPr>
            <a:r>
              <a:rPr lang="en-US" sz="1600" dirty="0">
                <a:solidFill>
                  <a:srgbClr val="1F2937"/>
                </a:solidFill>
                <a:latin typeface="Arial" pitchFamily="34" charset="0"/>
                <a:ea typeface="Arial" pitchFamily="34" charset="-122"/>
                <a:cs typeface="Arial" pitchFamily="34" charset="-120"/>
              </a:rPr>
              <a:t>Apply Python concepts such as variables, dictionaries/lists, functions, conditions and loops.</a:t>
            </a:r>
            <a:endParaRPr lang="en-US" sz="1600" dirty="0"/>
          </a:p>
          <a:p>
            <a:pPr marL="228600" indent="-228600">
              <a:spcAft>
                <a:spcPts val="900"/>
              </a:spcAft>
              <a:buSzPct val="100000"/>
              <a:buChar char="•"/>
            </a:pPr>
            <a:r>
              <a:rPr lang="en-US" sz="1600" dirty="0">
                <a:solidFill>
                  <a:srgbClr val="1F2937"/>
                </a:solidFill>
                <a:latin typeface="Arial" pitchFamily="34" charset="0"/>
                <a:ea typeface="Arial" pitchFamily="34" charset="-122"/>
                <a:cs typeface="Arial" pitchFamily="34" charset="-120"/>
              </a:rPr>
              <a:t>Track project development using GitHub.</a:t>
            </a:r>
            <a:endParaRPr lang="en-US" sz="16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Algorithm</a:t>
            </a:r>
            <a:endParaRPr lang="en-US" sz="3000" dirty="0"/>
          </a:p>
        </p:txBody>
      </p:sp>
      <p:sp>
        <p:nvSpPr>
          <p:cNvPr id="3" name="Text 1"/>
          <p:cNvSpPr txBox="1"/>
          <p:nvPr/>
        </p:nvSpPr>
        <p:spPr>
          <a:xfrm>
            <a:off x="640080" y="1234440"/>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4" name="Text 2"/>
          <p:cNvSpPr txBox="1"/>
          <p:nvPr/>
        </p:nvSpPr>
        <p:spPr>
          <a:xfrm>
            <a:off x="1188720" y="1234440"/>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Start the program.</a:t>
            </a:r>
            <a:endParaRPr lang="en-US" sz="1600" dirty="0"/>
          </a:p>
        </p:txBody>
      </p:sp>
      <p:sp>
        <p:nvSpPr>
          <p:cNvPr id="5" name="Text 3"/>
          <p:cNvSpPr txBox="1"/>
          <p:nvPr/>
        </p:nvSpPr>
        <p:spPr>
          <a:xfrm>
            <a:off x="640080" y="1755648"/>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6" name="Text 4"/>
          <p:cNvSpPr txBox="1"/>
          <p:nvPr/>
        </p:nvSpPr>
        <p:spPr>
          <a:xfrm>
            <a:off x="1188720" y="1755648"/>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Load previously saved contacts from the file.</a:t>
            </a:r>
            <a:endParaRPr lang="en-US" sz="1600" dirty="0"/>
          </a:p>
        </p:txBody>
      </p:sp>
      <p:sp>
        <p:nvSpPr>
          <p:cNvPr id="7" name="Text 5"/>
          <p:cNvSpPr txBox="1"/>
          <p:nvPr/>
        </p:nvSpPr>
        <p:spPr>
          <a:xfrm>
            <a:off x="640080" y="2276856"/>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8" name="Text 6"/>
          <p:cNvSpPr txBox="1"/>
          <p:nvPr/>
        </p:nvSpPr>
        <p:spPr>
          <a:xfrm>
            <a:off x="1188720" y="2276856"/>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Display the main menu.</a:t>
            </a:r>
            <a:endParaRPr lang="en-US" sz="1600" dirty="0"/>
          </a:p>
        </p:txBody>
      </p:sp>
      <p:sp>
        <p:nvSpPr>
          <p:cNvPr id="9" name="Text 7"/>
          <p:cNvSpPr txBox="1"/>
          <p:nvPr/>
        </p:nvSpPr>
        <p:spPr>
          <a:xfrm>
            <a:off x="640080" y="2798064"/>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0" name="Text 8"/>
          <p:cNvSpPr txBox="1"/>
          <p:nvPr/>
        </p:nvSpPr>
        <p:spPr>
          <a:xfrm>
            <a:off x="1188720" y="2798064"/>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Accept the user's choice.</a:t>
            </a:r>
            <a:endParaRPr lang="en-US" sz="1600" dirty="0"/>
          </a:p>
        </p:txBody>
      </p:sp>
      <p:sp>
        <p:nvSpPr>
          <p:cNvPr id="11" name="Text 9"/>
          <p:cNvSpPr txBox="1"/>
          <p:nvPr/>
        </p:nvSpPr>
        <p:spPr>
          <a:xfrm>
            <a:off x="640080" y="3319272"/>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2" name="Text 10"/>
          <p:cNvSpPr txBox="1"/>
          <p:nvPr/>
        </p:nvSpPr>
        <p:spPr>
          <a:xfrm>
            <a:off x="1188720" y="3319272"/>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Perform Add, View, Search, Edit or Delete operation.</a:t>
            </a:r>
            <a:endParaRPr lang="en-US" sz="1600" dirty="0"/>
          </a:p>
        </p:txBody>
      </p:sp>
      <p:sp>
        <p:nvSpPr>
          <p:cNvPr id="13" name="Text 11"/>
          <p:cNvSpPr txBox="1"/>
          <p:nvPr/>
        </p:nvSpPr>
        <p:spPr>
          <a:xfrm>
            <a:off x="640080" y="3840480"/>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14" name="Text 12"/>
          <p:cNvSpPr txBox="1"/>
          <p:nvPr/>
        </p:nvSpPr>
        <p:spPr>
          <a:xfrm>
            <a:off x="1188720" y="3840480"/>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Save the updated contact information.</a:t>
            </a:r>
            <a:endParaRPr lang="en-US" sz="1600" dirty="0"/>
          </a:p>
        </p:txBody>
      </p:sp>
      <p:sp>
        <p:nvSpPr>
          <p:cNvPr id="15" name="Text 13"/>
          <p:cNvSpPr txBox="1"/>
          <p:nvPr/>
        </p:nvSpPr>
        <p:spPr>
          <a:xfrm>
            <a:off x="640080" y="4361688"/>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16" name="Text 14"/>
          <p:cNvSpPr txBox="1"/>
          <p:nvPr/>
        </p:nvSpPr>
        <p:spPr>
          <a:xfrm>
            <a:off x="1188720" y="4361688"/>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Return to the main menu.</a:t>
            </a:r>
            <a:endParaRPr lang="en-US" sz="1600" dirty="0"/>
          </a:p>
        </p:txBody>
      </p:sp>
      <p:sp>
        <p:nvSpPr>
          <p:cNvPr id="17" name="Text 15"/>
          <p:cNvSpPr txBox="1"/>
          <p:nvPr/>
        </p:nvSpPr>
        <p:spPr>
          <a:xfrm>
            <a:off x="640080" y="4882896"/>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18" name="Text 16"/>
          <p:cNvSpPr txBox="1"/>
          <p:nvPr/>
        </p:nvSpPr>
        <p:spPr>
          <a:xfrm>
            <a:off x="1188720" y="4882896"/>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Repeat until the user selects Exit.</a:t>
            </a:r>
            <a:endParaRPr lang="en-US" sz="1600" dirty="0"/>
          </a:p>
        </p:txBody>
      </p:sp>
      <p:sp>
        <p:nvSpPr>
          <p:cNvPr id="19" name="Text 17"/>
          <p:cNvSpPr txBox="1"/>
          <p:nvPr/>
        </p:nvSpPr>
        <p:spPr>
          <a:xfrm>
            <a:off x="640080" y="5404104"/>
            <a:ext cx="365760" cy="365760"/>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20" name="Text 18"/>
          <p:cNvSpPr txBox="1"/>
          <p:nvPr/>
        </p:nvSpPr>
        <p:spPr>
          <a:xfrm>
            <a:off x="1188720" y="5404104"/>
            <a:ext cx="5394960" cy="365760"/>
          </a:xfrm>
          <a:prstGeom prst="rect">
            <a:avLst/>
          </a:prstGeom>
          <a:noFill/>
          <a:ln/>
        </p:spPr>
        <p:txBody>
          <a:bodyPr wrap="square" lIns="0" tIns="0" rIns="0" bIns="0" rtlCol="0" anchor="ctr"/>
          <a:lstStyle/>
          <a:p>
            <a:pPr marL="0" indent="0">
              <a:buNone/>
            </a:pPr>
            <a:r>
              <a:rPr lang="en-US" sz="1600" dirty="0">
                <a:solidFill>
                  <a:srgbClr val="1F2937"/>
                </a:solidFill>
                <a:latin typeface="Arial" pitchFamily="34" charset="0"/>
                <a:ea typeface="Arial" pitchFamily="34" charset="-122"/>
                <a:cs typeface="Arial" pitchFamily="34" charset="-120"/>
              </a:rPr>
              <a:t>Stop the program.</a:t>
            </a:r>
            <a:endParaRPr lang="en-US" sz="1600" dirty="0"/>
          </a:p>
        </p:txBody>
      </p:sp>
      <p:sp>
        <p:nvSpPr>
          <p:cNvPr id="21" name="Shape 19"/>
          <p:cNvSpPr/>
          <p:nvPr/>
        </p:nvSpPr>
        <p:spPr>
          <a:xfrm>
            <a:off x="6720840" y="2276856"/>
            <a:ext cx="73152" cy="2971800"/>
          </a:xfrm>
          <a:prstGeom prst="rect">
            <a:avLst/>
          </a:prstGeom>
          <a:solidFill>
            <a:srgbClr val="E8A33D"/>
          </a:solidFill>
          <a:ln w="12700">
            <a:solidFill>
              <a:srgbClr val="E8A33D"/>
            </a:solidFill>
            <a:prstDash val="solid"/>
          </a:ln>
        </p:spPr>
      </p:sp>
      <p:sp>
        <p:nvSpPr>
          <p:cNvPr id="22" name="Text 20"/>
          <p:cNvSpPr txBox="1"/>
          <p:nvPr/>
        </p:nvSpPr>
        <p:spPr>
          <a:xfrm>
            <a:off x="6949440" y="2331720"/>
            <a:ext cx="1691640" cy="1645920"/>
          </a:xfrm>
          <a:prstGeom prst="rect">
            <a:avLst/>
          </a:prstGeom>
          <a:noFill/>
          <a:ln/>
        </p:spPr>
        <p:txBody>
          <a:bodyPr wrap="square" lIns="0" tIns="0" rIns="0" bIns="0" rtlCol="0" anchor="t"/>
          <a:lstStyle/>
          <a:p>
            <a:pPr marL="0" indent="0">
              <a:buNone/>
            </a:pPr>
            <a:r>
              <a:rPr lang="en-US" sz="1500" b="1" dirty="0">
                <a:solidFill>
                  <a:srgbClr val="1F2937"/>
                </a:solidFill>
                <a:latin typeface="Arial" pitchFamily="34" charset="0"/>
                <a:ea typeface="Arial" pitchFamily="34" charset="-122"/>
                <a:cs typeface="Arial" pitchFamily="34" charset="-120"/>
              </a:rPr>
              <a:t>Steps 3–8 repeat</a:t>
            </a:r>
            <a:endParaRPr lang="en-US" sz="1500" dirty="0"/>
          </a:p>
          <a:p>
            <a:pPr marL="0" indent="0">
              <a:buNone/>
            </a:pPr>
            <a:r>
              <a:rPr lang="en-US" sz="1300" dirty="0">
                <a:solidFill>
                  <a:srgbClr val="1F2937"/>
                </a:solidFill>
                <a:latin typeface="Arial" pitchFamily="34" charset="0"/>
                <a:ea typeface="Arial" pitchFamily="34" charset="-122"/>
                <a:cs typeface="Arial" pitchFamily="34" charset="-120"/>
              </a:rPr>
              <a:t>The menu loop keeps running until the user chooses Exit.</a:t>
            </a:r>
            <a:endParaRPr lang="en-US" sz="15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Flowchart / Pseudocode</a:t>
            </a:r>
            <a:endParaRPr lang="en-US" sz="3000" dirty="0"/>
          </a:p>
        </p:txBody>
      </p:sp>
      <p:sp>
        <p:nvSpPr>
          <p:cNvPr id="3" name="Text 1"/>
          <p:cNvSpPr txBox="1"/>
          <p:nvPr/>
        </p:nvSpPr>
        <p:spPr>
          <a:xfrm>
            <a:off x="548640" y="1188720"/>
            <a:ext cx="2377440" cy="420624"/>
          </a:xfrm>
          <a:prstGeom prst="roundRect">
            <a:avLst>
              <a:gd name="adj" fmla="val 17391"/>
            </a:avLst>
          </a:prstGeom>
          <a:solidFill>
            <a:srgbClr val="FFFFFF"/>
          </a:solidFill>
          <a:ln w="15875">
            <a:solidFill>
              <a:srgbClr val="1B365D"/>
            </a:solid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START</a:t>
            </a:r>
            <a:endParaRPr lang="en-US" sz="1300" dirty="0"/>
          </a:p>
        </p:txBody>
      </p:sp>
      <p:sp>
        <p:nvSpPr>
          <p:cNvPr id="4" name="Shape 2"/>
          <p:cNvSpPr/>
          <p:nvPr/>
        </p:nvSpPr>
        <p:spPr>
          <a:xfrm>
            <a:off x="1600200" y="1636776"/>
            <a:ext cx="274320" cy="201168"/>
          </a:xfrm>
          <a:prstGeom prst="downArrow">
            <a:avLst/>
          </a:prstGeom>
          <a:solidFill>
            <a:srgbClr val="1B365D"/>
          </a:solidFill>
          <a:ln w="12700">
            <a:solidFill>
              <a:srgbClr val="1B365D"/>
            </a:solidFill>
            <a:prstDash val="solid"/>
          </a:ln>
        </p:spPr>
      </p:sp>
      <p:sp>
        <p:nvSpPr>
          <p:cNvPr id="5" name="Text 3"/>
          <p:cNvSpPr txBox="1"/>
          <p:nvPr/>
        </p:nvSpPr>
        <p:spPr>
          <a:xfrm>
            <a:off x="548640" y="1865376"/>
            <a:ext cx="2377440" cy="420624"/>
          </a:xfrm>
          <a:prstGeom prst="roundRect">
            <a:avLst>
              <a:gd name="adj" fmla="val 17391"/>
            </a:avLst>
          </a:prstGeom>
          <a:solidFill>
            <a:srgbClr val="FFFFFF"/>
          </a:solidFill>
          <a:ln w="15875">
            <a:solidFill>
              <a:srgbClr val="1B365D"/>
            </a:solid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Load contacts</a:t>
            </a:r>
            <a:endParaRPr lang="en-US" sz="1300" dirty="0"/>
          </a:p>
        </p:txBody>
      </p:sp>
      <p:sp>
        <p:nvSpPr>
          <p:cNvPr id="6" name="Shape 4"/>
          <p:cNvSpPr/>
          <p:nvPr/>
        </p:nvSpPr>
        <p:spPr>
          <a:xfrm>
            <a:off x="1600200" y="2313432"/>
            <a:ext cx="274320" cy="201168"/>
          </a:xfrm>
          <a:prstGeom prst="downArrow">
            <a:avLst/>
          </a:prstGeom>
          <a:solidFill>
            <a:srgbClr val="1B365D"/>
          </a:solidFill>
          <a:ln w="12700">
            <a:solidFill>
              <a:srgbClr val="1B365D"/>
            </a:solidFill>
            <a:prstDash val="solid"/>
          </a:ln>
        </p:spPr>
      </p:sp>
      <p:sp>
        <p:nvSpPr>
          <p:cNvPr id="7" name="Text 5"/>
          <p:cNvSpPr txBox="1"/>
          <p:nvPr/>
        </p:nvSpPr>
        <p:spPr>
          <a:xfrm>
            <a:off x="548640" y="2542032"/>
            <a:ext cx="2377440" cy="420624"/>
          </a:xfrm>
          <a:prstGeom prst="roundRect">
            <a:avLst>
              <a:gd name="adj" fmla="val 17391"/>
            </a:avLst>
          </a:prstGeom>
          <a:solidFill>
            <a:srgbClr val="FFFFFF"/>
          </a:solidFill>
          <a:ln w="15875">
            <a:solidFill>
              <a:srgbClr val="1B365D"/>
            </a:solid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Display Menu</a:t>
            </a:r>
            <a:endParaRPr lang="en-US" sz="1300" dirty="0"/>
          </a:p>
        </p:txBody>
      </p:sp>
      <p:sp>
        <p:nvSpPr>
          <p:cNvPr id="8" name="Shape 6"/>
          <p:cNvSpPr/>
          <p:nvPr/>
        </p:nvSpPr>
        <p:spPr>
          <a:xfrm>
            <a:off x="1600200" y="2990088"/>
            <a:ext cx="274320" cy="201168"/>
          </a:xfrm>
          <a:prstGeom prst="downArrow">
            <a:avLst/>
          </a:prstGeom>
          <a:solidFill>
            <a:srgbClr val="1B365D"/>
          </a:solidFill>
          <a:ln w="12700">
            <a:solidFill>
              <a:srgbClr val="1B365D"/>
            </a:solidFill>
            <a:prstDash val="solid"/>
          </a:ln>
        </p:spPr>
      </p:sp>
      <p:sp>
        <p:nvSpPr>
          <p:cNvPr id="9" name="Text 7"/>
          <p:cNvSpPr txBox="1"/>
          <p:nvPr/>
        </p:nvSpPr>
        <p:spPr>
          <a:xfrm>
            <a:off x="548640" y="3218688"/>
            <a:ext cx="2377440" cy="420624"/>
          </a:xfrm>
          <a:prstGeom prst="roundRect">
            <a:avLst>
              <a:gd name="adj" fmla="val 17391"/>
            </a:avLst>
          </a:prstGeom>
          <a:solidFill>
            <a:srgbClr val="FFFFFF"/>
          </a:solidFill>
          <a:ln w="15875">
            <a:solidFill>
              <a:srgbClr val="1B365D"/>
            </a:solid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Read Choice</a:t>
            </a:r>
            <a:endParaRPr lang="en-US" sz="1300" dirty="0"/>
          </a:p>
        </p:txBody>
      </p:sp>
      <p:sp>
        <p:nvSpPr>
          <p:cNvPr id="10" name="Shape 8"/>
          <p:cNvSpPr/>
          <p:nvPr/>
        </p:nvSpPr>
        <p:spPr>
          <a:xfrm>
            <a:off x="1600200" y="3666744"/>
            <a:ext cx="274320" cy="201168"/>
          </a:xfrm>
          <a:prstGeom prst="downArrow">
            <a:avLst/>
          </a:prstGeom>
          <a:solidFill>
            <a:srgbClr val="1B365D"/>
          </a:solidFill>
          <a:ln w="12700">
            <a:solidFill>
              <a:srgbClr val="1B365D"/>
            </a:solidFill>
            <a:prstDash val="solid"/>
          </a:ln>
        </p:spPr>
      </p:sp>
      <p:sp>
        <p:nvSpPr>
          <p:cNvPr id="11" name="Text 9"/>
          <p:cNvSpPr txBox="1"/>
          <p:nvPr/>
        </p:nvSpPr>
        <p:spPr>
          <a:xfrm>
            <a:off x="548640" y="3895344"/>
            <a:ext cx="2377440" cy="420624"/>
          </a:xfrm>
          <a:prstGeom prst="roundRect">
            <a:avLst>
              <a:gd name="adj" fmla="val 17391"/>
            </a:avLst>
          </a:prstGeom>
          <a:solidFill>
            <a:srgbClr val="FFFFFF"/>
          </a:solidFill>
          <a:ln w="15875">
            <a:solidFill>
              <a:srgbClr val="1B365D"/>
            </a:solid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Perform Operation</a:t>
            </a:r>
            <a:endParaRPr lang="en-US" sz="1300" dirty="0"/>
          </a:p>
        </p:txBody>
      </p:sp>
      <p:sp>
        <p:nvSpPr>
          <p:cNvPr id="12" name="Shape 10"/>
          <p:cNvSpPr/>
          <p:nvPr/>
        </p:nvSpPr>
        <p:spPr>
          <a:xfrm>
            <a:off x="1600200" y="4343400"/>
            <a:ext cx="274320" cy="201168"/>
          </a:xfrm>
          <a:prstGeom prst="downArrow">
            <a:avLst/>
          </a:prstGeom>
          <a:solidFill>
            <a:srgbClr val="1B365D"/>
          </a:solidFill>
          <a:ln w="12700">
            <a:solidFill>
              <a:srgbClr val="1B365D"/>
            </a:solidFill>
            <a:prstDash val="solid"/>
          </a:ln>
        </p:spPr>
      </p:sp>
      <p:sp>
        <p:nvSpPr>
          <p:cNvPr id="13" name="Text 11"/>
          <p:cNvSpPr txBox="1"/>
          <p:nvPr/>
        </p:nvSpPr>
        <p:spPr>
          <a:xfrm>
            <a:off x="548640" y="4572000"/>
            <a:ext cx="2377440" cy="420624"/>
          </a:xfrm>
          <a:prstGeom prst="roundRect">
            <a:avLst>
              <a:gd name="adj" fmla="val 17391"/>
            </a:avLst>
          </a:prstGeom>
          <a:solidFill>
            <a:srgbClr val="FFFFFF"/>
          </a:solidFill>
          <a:ln w="15875">
            <a:solidFill>
              <a:srgbClr val="1B365D"/>
            </a:solid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Save Changes</a:t>
            </a:r>
            <a:endParaRPr lang="en-US" sz="1300" dirty="0"/>
          </a:p>
        </p:txBody>
      </p:sp>
      <p:sp>
        <p:nvSpPr>
          <p:cNvPr id="14" name="Shape 12"/>
          <p:cNvSpPr/>
          <p:nvPr/>
        </p:nvSpPr>
        <p:spPr>
          <a:xfrm>
            <a:off x="1600200" y="5020056"/>
            <a:ext cx="274320" cy="201168"/>
          </a:xfrm>
          <a:prstGeom prst="downArrow">
            <a:avLst/>
          </a:prstGeom>
          <a:solidFill>
            <a:srgbClr val="1B365D"/>
          </a:solidFill>
          <a:ln w="12700">
            <a:solidFill>
              <a:srgbClr val="1B365D"/>
            </a:solidFill>
            <a:prstDash val="solid"/>
          </a:ln>
        </p:spPr>
      </p:sp>
      <p:sp>
        <p:nvSpPr>
          <p:cNvPr id="15" name="Text 13"/>
          <p:cNvSpPr txBox="1"/>
          <p:nvPr/>
        </p:nvSpPr>
        <p:spPr>
          <a:xfrm>
            <a:off x="548640" y="5248656"/>
            <a:ext cx="2377440" cy="420624"/>
          </a:xfrm>
          <a:prstGeom prst="roundRect">
            <a:avLst>
              <a:gd name="adj" fmla="val 17391"/>
            </a:avLst>
          </a:prstGeom>
          <a:solidFill>
            <a:srgbClr val="FFFFFF"/>
          </a:solidFill>
          <a:ln w="15875">
            <a:solidFill>
              <a:srgbClr val="1B365D"/>
            </a:solid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Exit? No → Menu</a:t>
            </a:r>
            <a:endParaRPr lang="en-US" sz="1300" dirty="0"/>
          </a:p>
        </p:txBody>
      </p:sp>
      <p:sp>
        <p:nvSpPr>
          <p:cNvPr id="16" name="Shape 14"/>
          <p:cNvSpPr/>
          <p:nvPr/>
        </p:nvSpPr>
        <p:spPr>
          <a:xfrm>
            <a:off x="3383280" y="1188720"/>
            <a:ext cx="5212080" cy="4754880"/>
          </a:xfrm>
          <a:prstGeom prst="roundRect">
            <a:avLst>
              <a:gd name="adj" fmla="val 5769"/>
            </a:avLst>
          </a:prstGeom>
          <a:solidFill>
            <a:srgbClr val="FFFFFF"/>
          </a:solidFill>
          <a:ln w="15875">
            <a:solidFill>
              <a:srgbClr val="1B365D"/>
            </a:solidFill>
            <a:prstDash val="solid"/>
          </a:ln>
        </p:spPr>
      </p:sp>
      <p:sp>
        <p:nvSpPr>
          <p:cNvPr id="17" name="Text 15"/>
          <p:cNvSpPr txBox="1"/>
          <p:nvPr/>
        </p:nvSpPr>
        <p:spPr>
          <a:xfrm>
            <a:off x="3703320" y="1463040"/>
            <a:ext cx="4754880" cy="4206240"/>
          </a:xfrm>
          <a:prstGeom prst="rect">
            <a:avLst/>
          </a:prstGeom>
          <a:noFill/>
          <a:ln/>
        </p:spPr>
        <p:txBody>
          <a:bodyPr wrap="square" lIns="0" tIns="0" rIns="0" bIns="0" rtlCol="0" anchor="t"/>
          <a:lstStyle/>
          <a:p>
            <a:pPr marL="0" indent="0">
              <a:buNone/>
            </a:pPr>
            <a:r>
              <a:rPr lang="en-US" sz="1600" dirty="0">
                <a:solidFill>
                  <a:srgbClr val="111111"/>
                </a:solidFill>
                <a:latin typeface="Courier New" pitchFamily="34" charset="0"/>
                <a:ea typeface="Courier New" pitchFamily="34" charset="-122"/>
                <a:cs typeface="Courier New" pitchFamily="34" charset="-120"/>
              </a:rPr>
              <a:t>START</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Load contacts</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WHILE True:</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Display menu</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Read choice</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IF Add → add contact</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ELSE IF View → display contacts</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ELSE IF Search → find contact</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ELSE IF Edit → update contact</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ELSE IF Delete → remove contact</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ELSE IF Exit → STOP</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ELSE → show invalid choice</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111111"/>
                </a:solidFill>
                <a:latin typeface="Courier New" pitchFamily="34" charset="0"/>
                <a:ea typeface="Courier New" pitchFamily="34" charset="-122"/>
                <a:cs typeface="Courier New" pitchFamily="34" charset="-120"/>
              </a:rPr>
              <a:t>    Save changes</a:t>
            </a:r>
            <a:endParaRPr lang="en-US" sz="16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Understanding of Python Logic</a:t>
            </a:r>
            <a:endParaRPr lang="en-US" sz="3000" dirty="0"/>
          </a:p>
        </p:txBody>
      </p:sp>
      <p:sp>
        <p:nvSpPr>
          <p:cNvPr id="3" name="Text 1"/>
          <p:cNvSpPr txBox="1"/>
          <p:nvPr/>
        </p:nvSpPr>
        <p:spPr>
          <a:xfrm>
            <a:off x="548640" y="1234440"/>
            <a:ext cx="2468880" cy="502920"/>
          </a:xfrm>
          <a:prstGeom prst="roundRect">
            <a:avLst>
              <a:gd name="adj" fmla="val 14545"/>
            </a:avLst>
          </a:prstGeom>
          <a:solidFill>
            <a:srgbClr val="1B365D"/>
          </a:solidFill>
          <a:ln>
            <a:solidFill>
              <a:srgbClr val="1B365D"/>
            </a:solidFill>
          </a:ln>
          <a:effectLst>
            <a:outerShdw blurRad="50800" dist="25400" dir="5400000" algn="bl" rotWithShape="0">
              <a:srgbClr val="000000">
                <a:alpha val="25000"/>
              </a:srgbClr>
            </a:outerShdw>
          </a:effectLst>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Variables</a:t>
            </a:r>
            <a:endParaRPr lang="en-US" sz="1600" dirty="0"/>
          </a:p>
        </p:txBody>
      </p:sp>
      <p:sp>
        <p:nvSpPr>
          <p:cNvPr id="4" name="Text 2"/>
          <p:cNvSpPr txBox="1"/>
          <p:nvPr/>
        </p:nvSpPr>
        <p:spPr>
          <a:xfrm>
            <a:off x="3291840" y="1234440"/>
            <a:ext cx="5394960" cy="502920"/>
          </a:xfrm>
          <a:prstGeom prst="rect">
            <a:avLst/>
          </a:prstGeom>
          <a:noFill/>
          <a:ln/>
        </p:spPr>
        <p:txBody>
          <a:bodyPr wrap="square" lIns="0" tIns="0" rIns="0" bIns="0" rtlCol="0" anchor="ctr"/>
          <a:lstStyle/>
          <a:p>
            <a:pPr marL="0" indent="0">
              <a:buNone/>
            </a:pPr>
            <a:r>
              <a:rPr lang="en-US" sz="1700" dirty="0">
                <a:solidFill>
                  <a:srgbClr val="1F2937"/>
                </a:solidFill>
                <a:latin typeface="Arial" pitchFamily="34" charset="0"/>
                <a:ea typeface="Arial" pitchFamily="34" charset="-122"/>
                <a:cs typeface="Arial" pitchFamily="34" charset="-120"/>
              </a:rPr>
              <a:t>store name, phone number and email</a:t>
            </a:r>
            <a:endParaRPr lang="en-US" sz="1700" dirty="0"/>
          </a:p>
        </p:txBody>
      </p:sp>
      <p:sp>
        <p:nvSpPr>
          <p:cNvPr id="5" name="Text 3"/>
          <p:cNvSpPr txBox="1"/>
          <p:nvPr/>
        </p:nvSpPr>
        <p:spPr>
          <a:xfrm>
            <a:off x="548640" y="1929384"/>
            <a:ext cx="2468880" cy="502920"/>
          </a:xfrm>
          <a:prstGeom prst="roundRect">
            <a:avLst>
              <a:gd name="adj" fmla="val 14545"/>
            </a:avLst>
          </a:prstGeom>
          <a:solidFill>
            <a:srgbClr val="1B365D"/>
          </a:solidFill>
          <a:ln>
            <a:solidFill>
              <a:srgbClr val="1B365D"/>
            </a:solidFill>
          </a:ln>
          <a:effectLst>
            <a:outerShdw blurRad="50800" dist="25400" dir="5400000" algn="bl" rotWithShape="0">
              <a:srgbClr val="000000">
                <a:alpha val="25000"/>
              </a:srgbClr>
            </a:outerShdw>
          </a:effectLst>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Dictionary / List</a:t>
            </a:r>
            <a:endParaRPr lang="en-US" sz="1600" dirty="0"/>
          </a:p>
        </p:txBody>
      </p:sp>
      <p:sp>
        <p:nvSpPr>
          <p:cNvPr id="6" name="Text 4"/>
          <p:cNvSpPr txBox="1"/>
          <p:nvPr/>
        </p:nvSpPr>
        <p:spPr>
          <a:xfrm>
            <a:off x="3291840" y="1929384"/>
            <a:ext cx="5394960" cy="502920"/>
          </a:xfrm>
          <a:prstGeom prst="rect">
            <a:avLst/>
          </a:prstGeom>
          <a:noFill/>
          <a:ln/>
        </p:spPr>
        <p:txBody>
          <a:bodyPr wrap="square" lIns="0" tIns="0" rIns="0" bIns="0" rtlCol="0" anchor="ctr"/>
          <a:lstStyle/>
          <a:p>
            <a:pPr marL="0" indent="0">
              <a:buNone/>
            </a:pPr>
            <a:r>
              <a:rPr lang="en-US" sz="1700" dirty="0">
                <a:solidFill>
                  <a:srgbClr val="1F2937"/>
                </a:solidFill>
                <a:latin typeface="Arial" pitchFamily="34" charset="0"/>
                <a:ea typeface="Arial" pitchFamily="34" charset="-122"/>
                <a:cs typeface="Arial" pitchFamily="34" charset="-120"/>
              </a:rPr>
              <a:t>organize individual and multiple contacts</a:t>
            </a:r>
            <a:endParaRPr lang="en-US" sz="1700" dirty="0"/>
          </a:p>
        </p:txBody>
      </p:sp>
      <p:sp>
        <p:nvSpPr>
          <p:cNvPr id="7" name="Text 5"/>
          <p:cNvSpPr txBox="1"/>
          <p:nvPr/>
        </p:nvSpPr>
        <p:spPr>
          <a:xfrm>
            <a:off x="548640" y="2624328"/>
            <a:ext cx="2468880" cy="502920"/>
          </a:xfrm>
          <a:prstGeom prst="roundRect">
            <a:avLst>
              <a:gd name="adj" fmla="val 14545"/>
            </a:avLst>
          </a:prstGeom>
          <a:solidFill>
            <a:srgbClr val="1B365D"/>
          </a:solidFill>
          <a:ln>
            <a:solidFill>
              <a:srgbClr val="1B365D"/>
            </a:solidFill>
          </a:ln>
          <a:effectLst>
            <a:outerShdw blurRad="50800" dist="25400" dir="5400000" algn="bl" rotWithShape="0">
              <a:srgbClr val="000000">
                <a:alpha val="25000"/>
              </a:srgbClr>
            </a:outerShdw>
          </a:effectLst>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Functions</a:t>
            </a:r>
            <a:endParaRPr lang="en-US" sz="1600" dirty="0"/>
          </a:p>
        </p:txBody>
      </p:sp>
      <p:sp>
        <p:nvSpPr>
          <p:cNvPr id="8" name="Text 6"/>
          <p:cNvSpPr txBox="1"/>
          <p:nvPr/>
        </p:nvSpPr>
        <p:spPr>
          <a:xfrm>
            <a:off x="3291840" y="2624328"/>
            <a:ext cx="5394960" cy="502920"/>
          </a:xfrm>
          <a:prstGeom prst="rect">
            <a:avLst/>
          </a:prstGeom>
          <a:noFill/>
          <a:ln/>
        </p:spPr>
        <p:txBody>
          <a:bodyPr wrap="square" lIns="0" tIns="0" rIns="0" bIns="0" rtlCol="0" anchor="ctr"/>
          <a:lstStyle/>
          <a:p>
            <a:pPr marL="0" indent="0">
              <a:buNone/>
            </a:pPr>
            <a:r>
              <a:rPr lang="en-US" sz="1700" dirty="0">
                <a:solidFill>
                  <a:srgbClr val="1F2937"/>
                </a:solidFill>
                <a:latin typeface="Arial" pitchFamily="34" charset="0"/>
                <a:ea typeface="Arial" pitchFamily="34" charset="-122"/>
                <a:cs typeface="Arial" pitchFamily="34" charset="-120"/>
              </a:rPr>
              <a:t>separate Add, View, Search, Edit and Delete operations</a:t>
            </a:r>
            <a:endParaRPr lang="en-US" sz="1700" dirty="0"/>
          </a:p>
        </p:txBody>
      </p:sp>
      <p:sp>
        <p:nvSpPr>
          <p:cNvPr id="9" name="Text 7"/>
          <p:cNvSpPr txBox="1"/>
          <p:nvPr/>
        </p:nvSpPr>
        <p:spPr>
          <a:xfrm>
            <a:off x="548640" y="3319272"/>
            <a:ext cx="2468880" cy="502920"/>
          </a:xfrm>
          <a:prstGeom prst="roundRect">
            <a:avLst>
              <a:gd name="adj" fmla="val 14545"/>
            </a:avLst>
          </a:prstGeom>
          <a:solidFill>
            <a:srgbClr val="1B365D"/>
          </a:solidFill>
          <a:ln>
            <a:solidFill>
              <a:srgbClr val="1B365D"/>
            </a:solidFill>
          </a:ln>
          <a:effectLst>
            <a:outerShdw blurRad="50800" dist="25400" dir="5400000" algn="bl" rotWithShape="0">
              <a:srgbClr val="000000">
                <a:alpha val="25000"/>
              </a:srgbClr>
            </a:outerShdw>
          </a:effectLst>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if-elif-else</a:t>
            </a:r>
            <a:endParaRPr lang="en-US" sz="1600" dirty="0"/>
          </a:p>
        </p:txBody>
      </p:sp>
      <p:sp>
        <p:nvSpPr>
          <p:cNvPr id="10" name="Text 8"/>
          <p:cNvSpPr txBox="1"/>
          <p:nvPr/>
        </p:nvSpPr>
        <p:spPr>
          <a:xfrm>
            <a:off x="3291840" y="3319272"/>
            <a:ext cx="5394960" cy="502920"/>
          </a:xfrm>
          <a:prstGeom prst="rect">
            <a:avLst/>
          </a:prstGeom>
          <a:noFill/>
          <a:ln/>
        </p:spPr>
        <p:txBody>
          <a:bodyPr wrap="square" lIns="0" tIns="0" rIns="0" bIns="0" rtlCol="0" anchor="ctr"/>
          <a:lstStyle/>
          <a:p>
            <a:pPr marL="0" indent="0">
              <a:buNone/>
            </a:pPr>
            <a:r>
              <a:rPr lang="en-US" sz="1700" dirty="0">
                <a:solidFill>
                  <a:srgbClr val="1F2937"/>
                </a:solidFill>
                <a:latin typeface="Arial" pitchFamily="34" charset="0"/>
                <a:ea typeface="Arial" pitchFamily="34" charset="-122"/>
                <a:cs typeface="Arial" pitchFamily="34" charset="-120"/>
              </a:rPr>
              <a:t>process the selected menu option</a:t>
            </a:r>
            <a:endParaRPr lang="en-US" sz="1700" dirty="0"/>
          </a:p>
        </p:txBody>
      </p:sp>
      <p:sp>
        <p:nvSpPr>
          <p:cNvPr id="11" name="Text 9"/>
          <p:cNvSpPr txBox="1"/>
          <p:nvPr/>
        </p:nvSpPr>
        <p:spPr>
          <a:xfrm>
            <a:off x="548640" y="4014216"/>
            <a:ext cx="2468880" cy="502920"/>
          </a:xfrm>
          <a:prstGeom prst="roundRect">
            <a:avLst>
              <a:gd name="adj" fmla="val 14545"/>
            </a:avLst>
          </a:prstGeom>
          <a:solidFill>
            <a:srgbClr val="1B365D"/>
          </a:solidFill>
          <a:ln>
            <a:solidFill>
              <a:srgbClr val="1B365D"/>
            </a:solidFill>
          </a:ln>
          <a:effectLst>
            <a:outerShdw blurRad="50800" dist="25400" dir="5400000" algn="bl" rotWithShape="0">
              <a:srgbClr val="000000">
                <a:alpha val="25000"/>
              </a:srgbClr>
            </a:outerShdw>
          </a:effectLst>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while loop</a:t>
            </a:r>
            <a:endParaRPr lang="en-US" sz="1600" dirty="0"/>
          </a:p>
        </p:txBody>
      </p:sp>
      <p:sp>
        <p:nvSpPr>
          <p:cNvPr id="12" name="Text 10"/>
          <p:cNvSpPr txBox="1"/>
          <p:nvPr/>
        </p:nvSpPr>
        <p:spPr>
          <a:xfrm>
            <a:off x="3291840" y="4014216"/>
            <a:ext cx="5394960" cy="502920"/>
          </a:xfrm>
          <a:prstGeom prst="rect">
            <a:avLst/>
          </a:prstGeom>
          <a:noFill/>
          <a:ln/>
        </p:spPr>
        <p:txBody>
          <a:bodyPr wrap="square" lIns="0" tIns="0" rIns="0" bIns="0" rtlCol="0" anchor="ctr"/>
          <a:lstStyle/>
          <a:p>
            <a:pPr marL="0" indent="0">
              <a:buNone/>
            </a:pPr>
            <a:r>
              <a:rPr lang="en-US" sz="1700" dirty="0">
                <a:solidFill>
                  <a:srgbClr val="1F2937"/>
                </a:solidFill>
                <a:latin typeface="Arial" pitchFamily="34" charset="0"/>
                <a:ea typeface="Arial" pitchFamily="34" charset="-122"/>
                <a:cs typeface="Arial" pitchFamily="34" charset="-120"/>
              </a:rPr>
              <a:t>keep the menu running until Exit</a:t>
            </a:r>
            <a:endParaRPr lang="en-US" sz="1700" dirty="0"/>
          </a:p>
        </p:txBody>
      </p:sp>
      <p:sp>
        <p:nvSpPr>
          <p:cNvPr id="13" name="Text 11"/>
          <p:cNvSpPr txBox="1"/>
          <p:nvPr/>
        </p:nvSpPr>
        <p:spPr>
          <a:xfrm>
            <a:off x="548640" y="4709160"/>
            <a:ext cx="2468880" cy="502920"/>
          </a:xfrm>
          <a:prstGeom prst="roundRect">
            <a:avLst>
              <a:gd name="adj" fmla="val 14545"/>
            </a:avLst>
          </a:prstGeom>
          <a:solidFill>
            <a:srgbClr val="1B365D"/>
          </a:solidFill>
          <a:ln>
            <a:solidFill>
              <a:srgbClr val="1B365D"/>
            </a:solidFill>
          </a:ln>
          <a:effectLst>
            <a:outerShdw blurRad="50800" dist="25400" dir="5400000" algn="bl" rotWithShape="0">
              <a:srgbClr val="000000">
                <a:alpha val="25000"/>
              </a:srgbClr>
            </a:outerShdw>
          </a:effectLst>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File handling</a:t>
            </a:r>
            <a:endParaRPr lang="en-US" sz="1600" dirty="0"/>
          </a:p>
        </p:txBody>
      </p:sp>
      <p:sp>
        <p:nvSpPr>
          <p:cNvPr id="14" name="Text 12"/>
          <p:cNvSpPr txBox="1"/>
          <p:nvPr/>
        </p:nvSpPr>
        <p:spPr>
          <a:xfrm>
            <a:off x="3291840" y="4709160"/>
            <a:ext cx="5394960" cy="502920"/>
          </a:xfrm>
          <a:prstGeom prst="rect">
            <a:avLst/>
          </a:prstGeom>
          <a:noFill/>
          <a:ln/>
        </p:spPr>
        <p:txBody>
          <a:bodyPr wrap="square" lIns="0" tIns="0" rIns="0" bIns="0" rtlCol="0" anchor="ctr"/>
          <a:lstStyle/>
          <a:p>
            <a:pPr marL="0" indent="0">
              <a:buNone/>
            </a:pPr>
            <a:r>
              <a:rPr lang="en-US" sz="1700" dirty="0">
                <a:solidFill>
                  <a:srgbClr val="1F2937"/>
                </a:solidFill>
                <a:latin typeface="Arial" pitchFamily="34" charset="0"/>
                <a:ea typeface="Arial" pitchFamily="34" charset="-122"/>
                <a:cs typeface="Arial" pitchFamily="34" charset="-120"/>
              </a:rPr>
              <a:t>save and load contacts permanently</a:t>
            </a:r>
            <a:endParaRPr lang="en-US" sz="1700" dirty="0"/>
          </a:p>
        </p:txBody>
      </p:sp>
      <p:sp>
        <p:nvSpPr>
          <p:cNvPr id="15" name="Text 13"/>
          <p:cNvSpPr txBox="1"/>
          <p:nvPr/>
        </p:nvSpPr>
        <p:spPr>
          <a:xfrm>
            <a:off x="548640" y="5404104"/>
            <a:ext cx="2468880" cy="502920"/>
          </a:xfrm>
          <a:prstGeom prst="roundRect">
            <a:avLst>
              <a:gd name="adj" fmla="val 14545"/>
            </a:avLst>
          </a:prstGeom>
          <a:solidFill>
            <a:srgbClr val="1B365D"/>
          </a:solidFill>
          <a:ln>
            <a:solidFill>
              <a:srgbClr val="1B365D"/>
            </a:solidFill>
          </a:ln>
          <a:effectLst>
            <a:outerShdw blurRad="50800" dist="25400" dir="5400000" algn="bl" rotWithShape="0">
              <a:srgbClr val="000000">
                <a:alpha val="25000"/>
              </a:srgbClr>
            </a:outerShdw>
          </a:effectLst>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Exception handling</a:t>
            </a:r>
            <a:endParaRPr lang="en-US" sz="1600" dirty="0"/>
          </a:p>
        </p:txBody>
      </p:sp>
      <p:sp>
        <p:nvSpPr>
          <p:cNvPr id="16" name="Text 14"/>
          <p:cNvSpPr txBox="1"/>
          <p:nvPr/>
        </p:nvSpPr>
        <p:spPr>
          <a:xfrm>
            <a:off x="3291840" y="5404104"/>
            <a:ext cx="5394960" cy="502920"/>
          </a:xfrm>
          <a:prstGeom prst="rect">
            <a:avLst/>
          </a:prstGeom>
          <a:noFill/>
          <a:ln/>
        </p:spPr>
        <p:txBody>
          <a:bodyPr wrap="square" lIns="0" tIns="0" rIns="0" bIns="0" rtlCol="0" anchor="ctr"/>
          <a:lstStyle/>
          <a:p>
            <a:pPr marL="0" indent="0">
              <a:buNone/>
            </a:pPr>
            <a:r>
              <a:rPr lang="en-US" sz="1700" dirty="0">
                <a:solidFill>
                  <a:srgbClr val="1F2937"/>
                </a:solidFill>
                <a:latin typeface="Arial" pitchFamily="34" charset="0"/>
                <a:ea typeface="Arial" pitchFamily="34" charset="-122"/>
                <a:cs typeface="Arial" pitchFamily="34" charset="-120"/>
              </a:rPr>
              <a:t>manage invalid input and runtime errors</a:t>
            </a:r>
            <a:endParaRPr lang="en-US" sz="17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GitHub &amp; Project Development</a:t>
            </a:r>
            <a:endParaRPr lang="en-US" sz="3000" dirty="0"/>
          </a:p>
        </p:txBody>
      </p:sp>
      <p:sp>
        <p:nvSpPr>
          <p:cNvPr id="3" name="Text 1"/>
          <p:cNvSpPr txBox="1"/>
          <p:nvPr/>
        </p:nvSpPr>
        <p:spPr>
          <a:xfrm>
            <a:off x="640080" y="1280160"/>
            <a:ext cx="7863840" cy="237744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rgbClr val="1F2937"/>
                </a:solidFill>
                <a:latin typeface="Arial" pitchFamily="34" charset="0"/>
                <a:ea typeface="Arial" pitchFamily="34" charset="-122"/>
                <a:cs typeface="Arial" pitchFamily="34" charset="-120"/>
              </a:rPr>
              <a:t>Create a GitHub account and a repository named Python-Contact-Book.</a:t>
            </a:r>
            <a:endParaRPr lang="en-US" sz="1800" dirty="0"/>
          </a:p>
          <a:p>
            <a:pPr marL="228600" indent="-228600">
              <a:spcAft>
                <a:spcPts val="1200"/>
              </a:spcAft>
              <a:buSzPct val="100000"/>
              <a:buChar char="•"/>
            </a:pPr>
            <a:r>
              <a:rPr lang="en-US" sz="1800" dirty="0">
                <a:solidFill>
                  <a:srgbClr val="1F2937"/>
                </a:solidFill>
                <a:latin typeface="Arial" pitchFamily="34" charset="0"/>
                <a:ea typeface="Arial" pitchFamily="34" charset="-122"/>
                <a:cs typeface="Arial" pitchFamily="34" charset="-120"/>
              </a:rPr>
              <a:t>Upload the Python source code and project documentation.</a:t>
            </a:r>
            <a:endParaRPr lang="en-US" sz="1800" dirty="0"/>
          </a:p>
          <a:p>
            <a:pPr marL="228600" indent="-228600">
              <a:spcAft>
                <a:spcPts val="1200"/>
              </a:spcAft>
              <a:buSzPct val="100000"/>
              <a:buChar char="•"/>
            </a:pPr>
            <a:r>
              <a:rPr lang="en-US" sz="1800" dirty="0">
                <a:solidFill>
                  <a:srgbClr val="1F2937"/>
                </a:solidFill>
                <a:latin typeface="Arial" pitchFamily="34" charset="0"/>
                <a:ea typeface="Arial" pitchFamily="34" charset="-122"/>
                <a:cs typeface="Arial" pitchFamily="34" charset="-120"/>
              </a:rPr>
              <a:t>Use meaningful commits to show the development stages.</a:t>
            </a:r>
            <a:endParaRPr lang="en-US" sz="1800" dirty="0"/>
          </a:p>
          <a:p>
            <a:pPr marL="228600" indent="-228600">
              <a:spcAft>
                <a:spcPts val="1200"/>
              </a:spcAft>
              <a:buSzPct val="100000"/>
              <a:buChar char="•"/>
            </a:pPr>
            <a:r>
              <a:rPr lang="en-US" sz="1800" dirty="0">
                <a:solidFill>
                  <a:srgbClr val="1F2937"/>
                </a:solidFill>
                <a:latin typeface="Arial" pitchFamily="34" charset="0"/>
                <a:ea typeface="Arial" pitchFamily="34" charset="-122"/>
                <a:cs typeface="Arial" pitchFamily="34" charset="-120"/>
              </a:rPr>
              <a:t>Maintain the repository as the project is improved and tested.</a:t>
            </a:r>
            <a:endParaRPr lang="en-US" sz="1800" dirty="0"/>
          </a:p>
        </p:txBody>
      </p:sp>
      <p:sp>
        <p:nvSpPr>
          <p:cNvPr id="4" name="Text 2"/>
          <p:cNvSpPr txBox="1"/>
          <p:nvPr/>
        </p:nvSpPr>
        <p:spPr>
          <a:xfrm>
            <a:off x="640080" y="3566160"/>
            <a:ext cx="7315200" cy="365760"/>
          </a:xfrm>
          <a:prstGeom prst="rect">
            <a:avLst/>
          </a:prstGeom>
          <a:noFill/>
          <a:ln/>
        </p:spPr>
        <p:txBody>
          <a:bodyPr wrap="square" lIns="0" tIns="0" rIns="0" bIns="0" rtlCol="0" anchor="ctr"/>
          <a:lstStyle/>
          <a:p>
            <a:pPr marL="0" indent="0">
              <a:buNone/>
            </a:pPr>
            <a:r>
              <a:rPr lang="en-US" sz="1800" b="1" dirty="0">
                <a:solidFill>
                  <a:srgbClr val="1F2937"/>
                </a:solidFill>
                <a:latin typeface="Arial" pitchFamily="34" charset="0"/>
                <a:ea typeface="Arial" pitchFamily="34" charset="-122"/>
                <a:cs typeface="Arial" pitchFamily="34" charset="-120"/>
              </a:rPr>
              <a:t>Example commits</a:t>
            </a:r>
            <a:endParaRPr lang="en-US" sz="1800" dirty="0"/>
          </a:p>
        </p:txBody>
      </p:sp>
      <p:sp>
        <p:nvSpPr>
          <p:cNvPr id="5" name="Text 3"/>
          <p:cNvSpPr txBox="1"/>
          <p:nvPr/>
        </p:nvSpPr>
        <p:spPr>
          <a:xfrm>
            <a:off x="640080" y="4114800"/>
            <a:ext cx="1115568" cy="685800"/>
          </a:xfrm>
          <a:prstGeom prst="roundRect">
            <a:avLst>
              <a:gd name="adj" fmla="val 13333"/>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Initial setup</a:t>
            </a:r>
            <a:endParaRPr lang="en-US" sz="1200" dirty="0"/>
          </a:p>
        </p:txBody>
      </p:sp>
      <p:sp>
        <p:nvSpPr>
          <p:cNvPr id="6" name="Text 4"/>
          <p:cNvSpPr txBox="1"/>
          <p:nvPr/>
        </p:nvSpPr>
        <p:spPr>
          <a:xfrm>
            <a:off x="1755648" y="4114800"/>
            <a:ext cx="219456" cy="685800"/>
          </a:xfrm>
          <a:prstGeom prst="rect">
            <a:avLst/>
          </a:prstGeom>
          <a:noFill/>
          <a:ln/>
        </p:spPr>
        <p:txBody>
          <a:bodyPr wrap="square" lIns="0" tIns="0" rIns="0" bIns="0" rtlCol="0" anchor="ctr"/>
          <a:lstStyle/>
          <a:p>
            <a:pPr marL="0" indent="0" algn="ctr">
              <a:buNone/>
            </a:pPr>
            <a:r>
              <a:rPr lang="en-US" sz="1600" b="1" dirty="0">
                <a:solidFill>
                  <a:srgbClr val="5B6B7B"/>
                </a:solidFill>
                <a:latin typeface="Arial" pitchFamily="34" charset="0"/>
                <a:ea typeface="Arial" pitchFamily="34" charset="-122"/>
                <a:cs typeface="Arial" pitchFamily="34" charset="-120"/>
              </a:rPr>
              <a:t>→</a:t>
            </a:r>
            <a:endParaRPr lang="en-US" sz="1600" dirty="0"/>
          </a:p>
        </p:txBody>
      </p:sp>
      <p:sp>
        <p:nvSpPr>
          <p:cNvPr id="7" name="Text 5"/>
          <p:cNvSpPr txBox="1"/>
          <p:nvPr/>
        </p:nvSpPr>
        <p:spPr>
          <a:xfrm>
            <a:off x="1975104" y="4114800"/>
            <a:ext cx="1115568" cy="685800"/>
          </a:xfrm>
          <a:prstGeom prst="roundRect">
            <a:avLst>
              <a:gd name="adj" fmla="val 13333"/>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Add Contact</a:t>
            </a:r>
            <a:endParaRPr lang="en-US" sz="1200" dirty="0"/>
          </a:p>
        </p:txBody>
      </p:sp>
      <p:sp>
        <p:nvSpPr>
          <p:cNvPr id="8" name="Text 6"/>
          <p:cNvSpPr txBox="1"/>
          <p:nvPr/>
        </p:nvSpPr>
        <p:spPr>
          <a:xfrm>
            <a:off x="3090672" y="4114800"/>
            <a:ext cx="219456" cy="685800"/>
          </a:xfrm>
          <a:prstGeom prst="rect">
            <a:avLst/>
          </a:prstGeom>
          <a:noFill/>
          <a:ln/>
        </p:spPr>
        <p:txBody>
          <a:bodyPr wrap="square" lIns="0" tIns="0" rIns="0" bIns="0" rtlCol="0" anchor="ctr"/>
          <a:lstStyle/>
          <a:p>
            <a:pPr marL="0" indent="0" algn="ctr">
              <a:buNone/>
            </a:pPr>
            <a:r>
              <a:rPr lang="en-US" sz="1600" b="1" dirty="0">
                <a:solidFill>
                  <a:srgbClr val="5B6B7B"/>
                </a:solidFill>
                <a:latin typeface="Arial" pitchFamily="34" charset="0"/>
                <a:ea typeface="Arial" pitchFamily="34" charset="-122"/>
                <a:cs typeface="Arial" pitchFamily="34" charset="-120"/>
              </a:rPr>
              <a:t>→</a:t>
            </a:r>
            <a:endParaRPr lang="en-US" sz="1600" dirty="0"/>
          </a:p>
        </p:txBody>
      </p:sp>
      <p:sp>
        <p:nvSpPr>
          <p:cNvPr id="9" name="Text 7"/>
          <p:cNvSpPr txBox="1"/>
          <p:nvPr/>
        </p:nvSpPr>
        <p:spPr>
          <a:xfrm>
            <a:off x="3310128" y="4114800"/>
            <a:ext cx="1115568" cy="685800"/>
          </a:xfrm>
          <a:prstGeom prst="roundRect">
            <a:avLst>
              <a:gd name="adj" fmla="val 13333"/>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Search</a:t>
            </a:r>
            <a:endParaRPr lang="en-US" sz="1200" dirty="0"/>
          </a:p>
        </p:txBody>
      </p:sp>
      <p:sp>
        <p:nvSpPr>
          <p:cNvPr id="10" name="Text 8"/>
          <p:cNvSpPr txBox="1"/>
          <p:nvPr/>
        </p:nvSpPr>
        <p:spPr>
          <a:xfrm>
            <a:off x="4425696" y="4114800"/>
            <a:ext cx="219456" cy="685800"/>
          </a:xfrm>
          <a:prstGeom prst="rect">
            <a:avLst/>
          </a:prstGeom>
          <a:noFill/>
          <a:ln/>
        </p:spPr>
        <p:txBody>
          <a:bodyPr wrap="square" lIns="0" tIns="0" rIns="0" bIns="0" rtlCol="0" anchor="ctr"/>
          <a:lstStyle/>
          <a:p>
            <a:pPr marL="0" indent="0" algn="ctr">
              <a:buNone/>
            </a:pPr>
            <a:r>
              <a:rPr lang="en-US" sz="1600" b="1" dirty="0">
                <a:solidFill>
                  <a:srgbClr val="5B6B7B"/>
                </a:solidFill>
                <a:latin typeface="Arial" pitchFamily="34" charset="0"/>
                <a:ea typeface="Arial" pitchFamily="34" charset="-122"/>
                <a:cs typeface="Arial" pitchFamily="34" charset="-120"/>
              </a:rPr>
              <a:t>→</a:t>
            </a:r>
            <a:endParaRPr lang="en-US" sz="1600" dirty="0"/>
          </a:p>
        </p:txBody>
      </p:sp>
      <p:sp>
        <p:nvSpPr>
          <p:cNvPr id="11" name="Text 9"/>
          <p:cNvSpPr txBox="1"/>
          <p:nvPr/>
        </p:nvSpPr>
        <p:spPr>
          <a:xfrm>
            <a:off x="4645152" y="4114800"/>
            <a:ext cx="1115568" cy="685800"/>
          </a:xfrm>
          <a:prstGeom prst="roundRect">
            <a:avLst>
              <a:gd name="adj" fmla="val 13333"/>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Edit / Delete</a:t>
            </a:r>
            <a:endParaRPr lang="en-US" sz="1200" dirty="0"/>
          </a:p>
        </p:txBody>
      </p:sp>
      <p:sp>
        <p:nvSpPr>
          <p:cNvPr id="12" name="Text 10"/>
          <p:cNvSpPr txBox="1"/>
          <p:nvPr/>
        </p:nvSpPr>
        <p:spPr>
          <a:xfrm>
            <a:off x="5760720" y="4114800"/>
            <a:ext cx="219456" cy="685800"/>
          </a:xfrm>
          <a:prstGeom prst="rect">
            <a:avLst/>
          </a:prstGeom>
          <a:noFill/>
          <a:ln/>
        </p:spPr>
        <p:txBody>
          <a:bodyPr wrap="square" lIns="0" tIns="0" rIns="0" bIns="0" rtlCol="0" anchor="ctr"/>
          <a:lstStyle/>
          <a:p>
            <a:pPr marL="0" indent="0" algn="ctr">
              <a:buNone/>
            </a:pPr>
            <a:r>
              <a:rPr lang="en-US" sz="1600" b="1" dirty="0">
                <a:solidFill>
                  <a:srgbClr val="5B6B7B"/>
                </a:solidFill>
                <a:latin typeface="Arial" pitchFamily="34" charset="0"/>
                <a:ea typeface="Arial" pitchFamily="34" charset="-122"/>
                <a:cs typeface="Arial" pitchFamily="34" charset="-120"/>
              </a:rPr>
              <a:t>→</a:t>
            </a:r>
            <a:endParaRPr lang="en-US" sz="1600" dirty="0"/>
          </a:p>
        </p:txBody>
      </p:sp>
      <p:sp>
        <p:nvSpPr>
          <p:cNvPr id="13" name="Text 11"/>
          <p:cNvSpPr txBox="1"/>
          <p:nvPr/>
        </p:nvSpPr>
        <p:spPr>
          <a:xfrm>
            <a:off x="5980176" y="4114800"/>
            <a:ext cx="1115568" cy="685800"/>
          </a:xfrm>
          <a:prstGeom prst="roundRect">
            <a:avLst>
              <a:gd name="adj" fmla="val 13333"/>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File Handling</a:t>
            </a:r>
            <a:endParaRPr lang="en-US" sz="1200" dirty="0"/>
          </a:p>
        </p:txBody>
      </p:sp>
      <p:sp>
        <p:nvSpPr>
          <p:cNvPr id="14" name="Text 12"/>
          <p:cNvSpPr txBox="1"/>
          <p:nvPr/>
        </p:nvSpPr>
        <p:spPr>
          <a:xfrm>
            <a:off x="7095744" y="4114800"/>
            <a:ext cx="219456" cy="685800"/>
          </a:xfrm>
          <a:prstGeom prst="rect">
            <a:avLst/>
          </a:prstGeom>
          <a:noFill/>
          <a:ln/>
        </p:spPr>
        <p:txBody>
          <a:bodyPr wrap="square" lIns="0" tIns="0" rIns="0" bIns="0" rtlCol="0" anchor="ctr"/>
          <a:lstStyle/>
          <a:p>
            <a:pPr marL="0" indent="0" algn="ctr">
              <a:buNone/>
            </a:pPr>
            <a:r>
              <a:rPr lang="en-US" sz="1600" b="1" dirty="0">
                <a:solidFill>
                  <a:srgbClr val="5B6B7B"/>
                </a:solidFill>
                <a:latin typeface="Arial" pitchFamily="34" charset="0"/>
                <a:ea typeface="Arial" pitchFamily="34" charset="-122"/>
                <a:cs typeface="Arial" pitchFamily="34" charset="-120"/>
              </a:rPr>
              <a:t>→</a:t>
            </a:r>
            <a:endParaRPr lang="en-US" sz="1600" dirty="0"/>
          </a:p>
        </p:txBody>
      </p:sp>
      <p:sp>
        <p:nvSpPr>
          <p:cNvPr id="15" name="Text 13"/>
          <p:cNvSpPr txBox="1"/>
          <p:nvPr/>
        </p:nvSpPr>
        <p:spPr>
          <a:xfrm>
            <a:off x="7315200" y="4114800"/>
            <a:ext cx="1115568" cy="685800"/>
          </a:xfrm>
          <a:prstGeom prst="roundRect">
            <a:avLst>
              <a:gd name="adj" fmla="val 13333"/>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README update</a:t>
            </a:r>
            <a:endParaRPr lang="en-US" sz="12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Phase-2 : Project Progress</a:t>
            </a:r>
            <a:endParaRPr lang="en-US" sz="3000" dirty="0"/>
          </a:p>
        </p:txBody>
      </p:sp>
      <p:graphicFrame>
        <p:nvGraphicFramePr>
          <p:cNvPr id="3" name="Chart 0"/>
          <p:cNvGraphicFramePr/>
          <p:nvPr/>
        </p:nvGraphicFramePr>
        <p:xfrm>
          <a:off x="548640" y="1280160"/>
          <a:ext cx="31089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1371600" y="2468880"/>
            <a:ext cx="1463040" cy="731520"/>
          </a:xfrm>
          <a:prstGeom prst="rect">
            <a:avLst/>
          </a:prstGeom>
          <a:noFill/>
          <a:ln/>
        </p:spPr>
        <p:txBody>
          <a:bodyPr wrap="square" lIns="0" tIns="0" rIns="0" bIns="0" rtlCol="0" anchor="ctr"/>
          <a:lstStyle/>
          <a:p>
            <a:pPr marL="0" indent="0" algn="ctr">
              <a:buNone/>
            </a:pPr>
            <a:r>
              <a:rPr lang="en-US" sz="4000" b="1" dirty="0">
                <a:solidFill>
                  <a:srgbClr val="1B365D"/>
                </a:solidFill>
                <a:latin typeface="Arial" pitchFamily="34" charset="0"/>
                <a:ea typeface="Arial" pitchFamily="34" charset="-122"/>
                <a:cs typeface="Arial" pitchFamily="34" charset="-120"/>
              </a:rPr>
              <a:t>70%</a:t>
            </a:r>
            <a:endParaRPr lang="en-US" sz="4000" dirty="0"/>
          </a:p>
        </p:txBody>
      </p:sp>
      <p:sp>
        <p:nvSpPr>
          <p:cNvPr id="5" name="Text 2"/>
          <p:cNvSpPr txBox="1"/>
          <p:nvPr/>
        </p:nvSpPr>
        <p:spPr>
          <a:xfrm>
            <a:off x="1371600" y="3154680"/>
            <a:ext cx="1463040" cy="274320"/>
          </a:xfrm>
          <a:prstGeom prst="rect">
            <a:avLst/>
          </a:prstGeom>
          <a:noFill/>
          <a:ln/>
        </p:spPr>
        <p:txBody>
          <a:bodyPr wrap="square" lIns="0" tIns="0" rIns="0" bIns="0" rtlCol="0" anchor="ctr"/>
          <a:lstStyle/>
          <a:p>
            <a:pPr marL="0" indent="0" algn="ctr">
              <a:buNone/>
            </a:pPr>
            <a:r>
              <a:rPr lang="en-US" sz="1300" dirty="0">
                <a:solidFill>
                  <a:srgbClr val="5B6B7B"/>
                </a:solidFill>
                <a:latin typeface="Arial" pitchFamily="34" charset="0"/>
                <a:ea typeface="Arial" pitchFamily="34" charset="-122"/>
                <a:cs typeface="Arial" pitchFamily="34" charset="-120"/>
              </a:rPr>
              <a:t>complete</a:t>
            </a:r>
            <a:endParaRPr lang="en-US" sz="1300" dirty="0"/>
          </a:p>
        </p:txBody>
      </p:sp>
      <p:sp>
        <p:nvSpPr>
          <p:cNvPr id="6" name="Text 3"/>
          <p:cNvSpPr txBox="1"/>
          <p:nvPr/>
        </p:nvSpPr>
        <p:spPr>
          <a:xfrm>
            <a:off x="548640" y="4526280"/>
            <a:ext cx="3108960" cy="320040"/>
          </a:xfrm>
          <a:prstGeom prst="rect">
            <a:avLst/>
          </a:prstGeom>
          <a:noFill/>
          <a:ln/>
        </p:spPr>
        <p:txBody>
          <a:bodyPr wrap="square" lIns="0" tIns="0" rIns="0" bIns="0" rtlCol="0" anchor="ctr"/>
          <a:lstStyle/>
          <a:p>
            <a:pPr marL="0" indent="0" algn="ctr">
              <a:buNone/>
            </a:pPr>
            <a:r>
              <a:rPr lang="en-US" sz="1500" b="1" dirty="0">
                <a:solidFill>
                  <a:srgbClr val="1F2937"/>
                </a:solidFill>
                <a:latin typeface="Arial" pitchFamily="34" charset="0"/>
                <a:ea typeface="Arial" pitchFamily="34" charset="-122"/>
                <a:cs typeface="Arial" pitchFamily="34" charset="-120"/>
              </a:rPr>
              <a:t>7 of 10 planned tasks done</a:t>
            </a:r>
            <a:endParaRPr lang="en-US" sz="1500" dirty="0"/>
          </a:p>
        </p:txBody>
      </p:sp>
      <p:sp>
        <p:nvSpPr>
          <p:cNvPr id="7" name="Shape 4"/>
          <p:cNvSpPr/>
          <p:nvPr/>
        </p:nvSpPr>
        <p:spPr>
          <a:xfrm>
            <a:off x="868680" y="5074920"/>
            <a:ext cx="182880" cy="182880"/>
          </a:xfrm>
          <a:prstGeom prst="rect">
            <a:avLst/>
          </a:prstGeom>
          <a:solidFill>
            <a:srgbClr val="1B365D"/>
          </a:solidFill>
          <a:ln w="12700">
            <a:solidFill>
              <a:srgbClr val="1B365D"/>
            </a:solidFill>
            <a:prstDash val="solid"/>
          </a:ln>
        </p:spPr>
      </p:sp>
      <p:sp>
        <p:nvSpPr>
          <p:cNvPr id="8" name="Text 5"/>
          <p:cNvSpPr txBox="1"/>
          <p:nvPr/>
        </p:nvSpPr>
        <p:spPr>
          <a:xfrm>
            <a:off x="1143000" y="5029200"/>
            <a:ext cx="1280160" cy="274320"/>
          </a:xfrm>
          <a:prstGeom prst="rect">
            <a:avLst/>
          </a:prstGeom>
          <a:noFill/>
          <a:ln/>
        </p:spPr>
        <p:txBody>
          <a:bodyPr wrap="square" lIns="0" tIns="0" rIns="0" bIns="0" rtlCol="0" anchor="ctr"/>
          <a:lstStyle/>
          <a:p>
            <a:pPr marL="0" indent="0">
              <a:buNone/>
            </a:pPr>
            <a:r>
              <a:rPr lang="en-US" sz="1200" dirty="0">
                <a:solidFill>
                  <a:srgbClr val="1F2937"/>
                </a:solidFill>
                <a:latin typeface="Arial" pitchFamily="34" charset="0"/>
                <a:ea typeface="Arial" pitchFamily="34" charset="-122"/>
                <a:cs typeface="Arial" pitchFamily="34" charset="-120"/>
              </a:rPr>
              <a:t>Completed (7)</a:t>
            </a:r>
            <a:endParaRPr lang="en-US" sz="1200" dirty="0"/>
          </a:p>
        </p:txBody>
      </p:sp>
      <p:sp>
        <p:nvSpPr>
          <p:cNvPr id="9" name="Shape 6"/>
          <p:cNvSpPr/>
          <p:nvPr/>
        </p:nvSpPr>
        <p:spPr>
          <a:xfrm>
            <a:off x="868680" y="5440680"/>
            <a:ext cx="182880" cy="182880"/>
          </a:xfrm>
          <a:prstGeom prst="rect">
            <a:avLst/>
          </a:prstGeom>
          <a:solidFill>
            <a:srgbClr val="D5DEE0"/>
          </a:solidFill>
          <a:ln w="12700">
            <a:solidFill>
              <a:srgbClr val="D5DEE0"/>
            </a:solidFill>
            <a:prstDash val="solid"/>
          </a:ln>
        </p:spPr>
      </p:sp>
      <p:sp>
        <p:nvSpPr>
          <p:cNvPr id="10" name="Text 7"/>
          <p:cNvSpPr txBox="1"/>
          <p:nvPr/>
        </p:nvSpPr>
        <p:spPr>
          <a:xfrm>
            <a:off x="1143000" y="5394960"/>
            <a:ext cx="1280160" cy="274320"/>
          </a:xfrm>
          <a:prstGeom prst="rect">
            <a:avLst/>
          </a:prstGeom>
          <a:noFill/>
          <a:ln/>
        </p:spPr>
        <p:txBody>
          <a:bodyPr wrap="square" lIns="0" tIns="0" rIns="0" bIns="0" rtlCol="0" anchor="ctr"/>
          <a:lstStyle/>
          <a:p>
            <a:pPr marL="0" indent="0">
              <a:buNone/>
            </a:pPr>
            <a:r>
              <a:rPr lang="en-US" sz="1200" dirty="0">
                <a:solidFill>
                  <a:srgbClr val="1F2937"/>
                </a:solidFill>
                <a:latin typeface="Arial" pitchFamily="34" charset="0"/>
                <a:ea typeface="Arial" pitchFamily="34" charset="-122"/>
                <a:cs typeface="Arial" pitchFamily="34" charset="-120"/>
              </a:rPr>
              <a:t>Remaining (3)</a:t>
            </a:r>
            <a:endParaRPr lang="en-US" sz="1200" dirty="0"/>
          </a:p>
        </p:txBody>
      </p:sp>
      <p:sp>
        <p:nvSpPr>
          <p:cNvPr id="11" name="Text 8"/>
          <p:cNvSpPr txBox="1"/>
          <p:nvPr/>
        </p:nvSpPr>
        <p:spPr>
          <a:xfrm>
            <a:off x="4069080" y="1408176"/>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2" name="Text 9"/>
          <p:cNvSpPr txBox="1"/>
          <p:nvPr/>
        </p:nvSpPr>
        <p:spPr>
          <a:xfrm>
            <a:off x="4526280" y="1371600"/>
            <a:ext cx="3017520" cy="329184"/>
          </a:xfrm>
          <a:prstGeom prst="rect">
            <a:avLst/>
          </a:prstGeom>
          <a:noFill/>
          <a:ln/>
        </p:spPr>
        <p:txBody>
          <a:bodyPr wrap="square" lIns="0" tIns="0" rIns="0" bIns="0" rtlCol="0" anchor="ctr"/>
          <a:lstStyle/>
          <a:p>
            <a:pPr marL="0" indent="0">
              <a:buNone/>
            </a:pPr>
            <a:r>
              <a:rPr lang="en-US" sz="1350" dirty="0">
                <a:solidFill>
                  <a:srgbClr val="1F2937"/>
                </a:solidFill>
                <a:latin typeface="Arial" pitchFamily="34" charset="0"/>
                <a:ea typeface="Arial" pitchFamily="34" charset="-122"/>
                <a:cs typeface="Arial" pitchFamily="34" charset="-120"/>
              </a:rPr>
              <a:t>Requirements &amp; algorithm design</a:t>
            </a:r>
            <a:endParaRPr lang="en-US" sz="1350" dirty="0"/>
          </a:p>
        </p:txBody>
      </p:sp>
      <p:sp>
        <p:nvSpPr>
          <p:cNvPr id="13" name="Text 10"/>
          <p:cNvSpPr txBox="1"/>
          <p:nvPr/>
        </p:nvSpPr>
        <p:spPr>
          <a:xfrm>
            <a:off x="7589520" y="1371600"/>
            <a:ext cx="1005840" cy="329184"/>
          </a:xfrm>
          <a:prstGeom prst="rect">
            <a:avLst/>
          </a:prstGeom>
          <a:noFill/>
          <a:ln/>
        </p:spPr>
        <p:txBody>
          <a:bodyPr wrap="square" lIns="0" tIns="0" rIns="0" bIns="0" rtlCol="0" anchor="ctr"/>
          <a:lstStyle/>
          <a:p>
            <a:pPr marL="0" indent="0" algn="r">
              <a:buNone/>
            </a:pPr>
            <a:r>
              <a:rPr lang="en-US" sz="1200" b="1" dirty="0">
                <a:solidFill>
                  <a:srgbClr val="2E8B57"/>
                </a:solidFill>
                <a:latin typeface="Arial" pitchFamily="34" charset="0"/>
                <a:ea typeface="Arial" pitchFamily="34" charset="-122"/>
                <a:cs typeface="Arial" pitchFamily="34" charset="-120"/>
              </a:rPr>
              <a:t>Done</a:t>
            </a:r>
            <a:endParaRPr lang="en-US" sz="1200" dirty="0"/>
          </a:p>
        </p:txBody>
      </p:sp>
      <p:sp>
        <p:nvSpPr>
          <p:cNvPr id="14" name="Text 11"/>
          <p:cNvSpPr txBox="1"/>
          <p:nvPr/>
        </p:nvSpPr>
        <p:spPr>
          <a:xfrm>
            <a:off x="4069080" y="1865376"/>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5" name="Text 12"/>
          <p:cNvSpPr txBox="1"/>
          <p:nvPr/>
        </p:nvSpPr>
        <p:spPr>
          <a:xfrm>
            <a:off x="4526280" y="1828800"/>
            <a:ext cx="3017520" cy="329184"/>
          </a:xfrm>
          <a:prstGeom prst="rect">
            <a:avLst/>
          </a:prstGeom>
          <a:noFill/>
          <a:ln/>
        </p:spPr>
        <p:txBody>
          <a:bodyPr wrap="square" lIns="0" tIns="0" rIns="0" bIns="0" rtlCol="0" anchor="ctr"/>
          <a:lstStyle/>
          <a:p>
            <a:pPr marL="0" indent="0">
              <a:buNone/>
            </a:pPr>
            <a:r>
              <a:rPr lang="en-US" sz="1350" dirty="0">
                <a:solidFill>
                  <a:srgbClr val="1F2937"/>
                </a:solidFill>
                <a:latin typeface="Arial" pitchFamily="34" charset="0"/>
                <a:ea typeface="Arial" pitchFamily="34" charset="-122"/>
                <a:cs typeface="Arial" pitchFamily="34" charset="-120"/>
              </a:rPr>
              <a:t>Menu-driven main loop</a:t>
            </a:r>
            <a:endParaRPr lang="en-US" sz="1350" dirty="0"/>
          </a:p>
        </p:txBody>
      </p:sp>
      <p:sp>
        <p:nvSpPr>
          <p:cNvPr id="16" name="Text 13"/>
          <p:cNvSpPr txBox="1"/>
          <p:nvPr/>
        </p:nvSpPr>
        <p:spPr>
          <a:xfrm>
            <a:off x="7589520" y="1828800"/>
            <a:ext cx="1005840" cy="329184"/>
          </a:xfrm>
          <a:prstGeom prst="rect">
            <a:avLst/>
          </a:prstGeom>
          <a:noFill/>
          <a:ln/>
        </p:spPr>
        <p:txBody>
          <a:bodyPr wrap="square" lIns="0" tIns="0" rIns="0" bIns="0" rtlCol="0" anchor="ctr"/>
          <a:lstStyle/>
          <a:p>
            <a:pPr marL="0" indent="0" algn="r">
              <a:buNone/>
            </a:pPr>
            <a:r>
              <a:rPr lang="en-US" sz="1200" b="1" dirty="0">
                <a:solidFill>
                  <a:srgbClr val="2E8B57"/>
                </a:solidFill>
                <a:latin typeface="Arial" pitchFamily="34" charset="0"/>
                <a:ea typeface="Arial" pitchFamily="34" charset="-122"/>
                <a:cs typeface="Arial" pitchFamily="34" charset="-120"/>
              </a:rPr>
              <a:t>Done</a:t>
            </a:r>
            <a:endParaRPr lang="en-US" sz="1200" dirty="0"/>
          </a:p>
        </p:txBody>
      </p:sp>
      <p:sp>
        <p:nvSpPr>
          <p:cNvPr id="17" name="Text 14"/>
          <p:cNvSpPr txBox="1"/>
          <p:nvPr/>
        </p:nvSpPr>
        <p:spPr>
          <a:xfrm>
            <a:off x="4069080" y="2322576"/>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8" name="Text 15"/>
          <p:cNvSpPr txBox="1"/>
          <p:nvPr/>
        </p:nvSpPr>
        <p:spPr>
          <a:xfrm>
            <a:off x="4526280" y="2286000"/>
            <a:ext cx="3017520" cy="329184"/>
          </a:xfrm>
          <a:prstGeom prst="rect">
            <a:avLst/>
          </a:prstGeom>
          <a:noFill/>
          <a:ln/>
        </p:spPr>
        <p:txBody>
          <a:bodyPr wrap="square" lIns="0" tIns="0" rIns="0" bIns="0" rtlCol="0" anchor="ctr"/>
          <a:lstStyle/>
          <a:p>
            <a:pPr marL="0" indent="0">
              <a:buNone/>
            </a:pPr>
            <a:r>
              <a:rPr lang="en-US" sz="1350" dirty="0">
                <a:solidFill>
                  <a:srgbClr val="1F2937"/>
                </a:solidFill>
                <a:latin typeface="Arial" pitchFamily="34" charset="0"/>
                <a:ea typeface="Arial" pitchFamily="34" charset="-122"/>
                <a:cs typeface="Arial" pitchFamily="34" charset="-120"/>
              </a:rPr>
              <a:t>Add, view &amp; search contacts</a:t>
            </a:r>
            <a:endParaRPr lang="en-US" sz="1350" dirty="0"/>
          </a:p>
        </p:txBody>
      </p:sp>
      <p:sp>
        <p:nvSpPr>
          <p:cNvPr id="19" name="Text 16"/>
          <p:cNvSpPr txBox="1"/>
          <p:nvPr/>
        </p:nvSpPr>
        <p:spPr>
          <a:xfrm>
            <a:off x="7589520" y="2286000"/>
            <a:ext cx="1005840" cy="329184"/>
          </a:xfrm>
          <a:prstGeom prst="rect">
            <a:avLst/>
          </a:prstGeom>
          <a:noFill/>
          <a:ln/>
        </p:spPr>
        <p:txBody>
          <a:bodyPr wrap="square" lIns="0" tIns="0" rIns="0" bIns="0" rtlCol="0" anchor="ctr"/>
          <a:lstStyle/>
          <a:p>
            <a:pPr marL="0" indent="0" algn="r">
              <a:buNone/>
            </a:pPr>
            <a:r>
              <a:rPr lang="en-US" sz="1200" b="1" dirty="0">
                <a:solidFill>
                  <a:srgbClr val="2E8B57"/>
                </a:solidFill>
                <a:latin typeface="Arial" pitchFamily="34" charset="0"/>
                <a:ea typeface="Arial" pitchFamily="34" charset="-122"/>
                <a:cs typeface="Arial" pitchFamily="34" charset="-120"/>
              </a:rPr>
              <a:t>Done</a:t>
            </a:r>
            <a:endParaRPr lang="en-US" sz="1200" dirty="0"/>
          </a:p>
        </p:txBody>
      </p:sp>
      <p:sp>
        <p:nvSpPr>
          <p:cNvPr id="20" name="Text 17"/>
          <p:cNvSpPr txBox="1"/>
          <p:nvPr/>
        </p:nvSpPr>
        <p:spPr>
          <a:xfrm>
            <a:off x="4069080" y="2779776"/>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1" name="Text 18"/>
          <p:cNvSpPr txBox="1"/>
          <p:nvPr/>
        </p:nvSpPr>
        <p:spPr>
          <a:xfrm>
            <a:off x="4526280" y="2743200"/>
            <a:ext cx="3017520" cy="329184"/>
          </a:xfrm>
          <a:prstGeom prst="rect">
            <a:avLst/>
          </a:prstGeom>
          <a:noFill/>
          <a:ln/>
        </p:spPr>
        <p:txBody>
          <a:bodyPr wrap="square" lIns="0" tIns="0" rIns="0" bIns="0" rtlCol="0" anchor="ctr"/>
          <a:lstStyle/>
          <a:p>
            <a:pPr marL="0" indent="0">
              <a:buNone/>
            </a:pPr>
            <a:r>
              <a:rPr lang="en-US" sz="1350" dirty="0">
                <a:solidFill>
                  <a:srgbClr val="1F2937"/>
                </a:solidFill>
                <a:latin typeface="Arial" pitchFamily="34" charset="0"/>
                <a:ea typeface="Arial" pitchFamily="34" charset="-122"/>
                <a:cs typeface="Arial" pitchFamily="34" charset="-120"/>
              </a:rPr>
              <a:t>Edit &amp; delete contacts</a:t>
            </a:r>
            <a:endParaRPr lang="en-US" sz="1350" dirty="0"/>
          </a:p>
        </p:txBody>
      </p:sp>
      <p:sp>
        <p:nvSpPr>
          <p:cNvPr id="22" name="Text 19"/>
          <p:cNvSpPr txBox="1"/>
          <p:nvPr/>
        </p:nvSpPr>
        <p:spPr>
          <a:xfrm>
            <a:off x="7589520" y="2743200"/>
            <a:ext cx="1005840" cy="329184"/>
          </a:xfrm>
          <a:prstGeom prst="rect">
            <a:avLst/>
          </a:prstGeom>
          <a:noFill/>
          <a:ln/>
        </p:spPr>
        <p:txBody>
          <a:bodyPr wrap="square" lIns="0" tIns="0" rIns="0" bIns="0" rtlCol="0" anchor="ctr"/>
          <a:lstStyle/>
          <a:p>
            <a:pPr marL="0" indent="0" algn="r">
              <a:buNone/>
            </a:pPr>
            <a:r>
              <a:rPr lang="en-US" sz="1200" b="1" dirty="0">
                <a:solidFill>
                  <a:srgbClr val="2E8B57"/>
                </a:solidFill>
                <a:latin typeface="Arial" pitchFamily="34" charset="0"/>
                <a:ea typeface="Arial" pitchFamily="34" charset="-122"/>
                <a:cs typeface="Arial" pitchFamily="34" charset="-120"/>
              </a:rPr>
              <a:t>Done</a:t>
            </a:r>
            <a:endParaRPr lang="en-US" sz="1200" dirty="0"/>
          </a:p>
        </p:txBody>
      </p:sp>
      <p:sp>
        <p:nvSpPr>
          <p:cNvPr id="23" name="Text 20"/>
          <p:cNvSpPr txBox="1"/>
          <p:nvPr/>
        </p:nvSpPr>
        <p:spPr>
          <a:xfrm>
            <a:off x="4069080" y="3236976"/>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4" name="Text 21"/>
          <p:cNvSpPr txBox="1"/>
          <p:nvPr/>
        </p:nvSpPr>
        <p:spPr>
          <a:xfrm>
            <a:off x="4526280" y="3200400"/>
            <a:ext cx="3017520" cy="329184"/>
          </a:xfrm>
          <a:prstGeom prst="rect">
            <a:avLst/>
          </a:prstGeom>
          <a:noFill/>
          <a:ln/>
        </p:spPr>
        <p:txBody>
          <a:bodyPr wrap="square" lIns="0" tIns="0" rIns="0" bIns="0" rtlCol="0" anchor="ctr"/>
          <a:lstStyle/>
          <a:p>
            <a:pPr marL="0" indent="0">
              <a:buNone/>
            </a:pPr>
            <a:r>
              <a:rPr lang="en-US" sz="1350" dirty="0">
                <a:solidFill>
                  <a:srgbClr val="1F2937"/>
                </a:solidFill>
                <a:latin typeface="Arial" pitchFamily="34" charset="0"/>
                <a:ea typeface="Arial" pitchFamily="34" charset="-122"/>
                <a:cs typeface="Arial" pitchFamily="34" charset="-120"/>
              </a:rPr>
              <a:t>JSON file save &amp; load</a:t>
            </a:r>
            <a:endParaRPr lang="en-US" sz="1350" dirty="0"/>
          </a:p>
        </p:txBody>
      </p:sp>
      <p:sp>
        <p:nvSpPr>
          <p:cNvPr id="25" name="Text 22"/>
          <p:cNvSpPr txBox="1"/>
          <p:nvPr/>
        </p:nvSpPr>
        <p:spPr>
          <a:xfrm>
            <a:off x="7589520" y="3200400"/>
            <a:ext cx="1005840" cy="329184"/>
          </a:xfrm>
          <a:prstGeom prst="rect">
            <a:avLst/>
          </a:prstGeom>
          <a:noFill/>
          <a:ln/>
        </p:spPr>
        <p:txBody>
          <a:bodyPr wrap="square" lIns="0" tIns="0" rIns="0" bIns="0" rtlCol="0" anchor="ctr"/>
          <a:lstStyle/>
          <a:p>
            <a:pPr marL="0" indent="0" algn="r">
              <a:buNone/>
            </a:pPr>
            <a:r>
              <a:rPr lang="en-US" sz="1200" b="1" dirty="0">
                <a:solidFill>
                  <a:srgbClr val="2E8B57"/>
                </a:solidFill>
                <a:latin typeface="Arial" pitchFamily="34" charset="0"/>
                <a:ea typeface="Arial" pitchFamily="34" charset="-122"/>
                <a:cs typeface="Arial" pitchFamily="34" charset="-120"/>
              </a:rPr>
              <a:t>Done</a:t>
            </a:r>
            <a:endParaRPr lang="en-US" sz="1200" dirty="0"/>
          </a:p>
        </p:txBody>
      </p:sp>
      <p:sp>
        <p:nvSpPr>
          <p:cNvPr id="26" name="Text 23"/>
          <p:cNvSpPr txBox="1"/>
          <p:nvPr/>
        </p:nvSpPr>
        <p:spPr>
          <a:xfrm>
            <a:off x="4069080" y="3694176"/>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7" name="Text 24"/>
          <p:cNvSpPr txBox="1"/>
          <p:nvPr/>
        </p:nvSpPr>
        <p:spPr>
          <a:xfrm>
            <a:off x="4526280" y="3657600"/>
            <a:ext cx="3017520" cy="329184"/>
          </a:xfrm>
          <a:prstGeom prst="rect">
            <a:avLst/>
          </a:prstGeom>
          <a:noFill/>
          <a:ln/>
        </p:spPr>
        <p:txBody>
          <a:bodyPr wrap="square" lIns="0" tIns="0" rIns="0" bIns="0" rtlCol="0" anchor="ctr"/>
          <a:lstStyle/>
          <a:p>
            <a:pPr marL="0" indent="0">
              <a:buNone/>
            </a:pPr>
            <a:r>
              <a:rPr lang="en-US" sz="1350" dirty="0">
                <a:solidFill>
                  <a:srgbClr val="1F2937"/>
                </a:solidFill>
                <a:latin typeface="Arial" pitchFamily="34" charset="0"/>
                <a:ea typeface="Arial" pitchFamily="34" charset="-122"/>
                <a:cs typeface="Arial" pitchFamily="34" charset="-120"/>
              </a:rPr>
              <a:t>Validation &amp; exception handling</a:t>
            </a:r>
            <a:endParaRPr lang="en-US" sz="1350" dirty="0"/>
          </a:p>
        </p:txBody>
      </p:sp>
      <p:sp>
        <p:nvSpPr>
          <p:cNvPr id="28" name="Text 25"/>
          <p:cNvSpPr txBox="1"/>
          <p:nvPr/>
        </p:nvSpPr>
        <p:spPr>
          <a:xfrm>
            <a:off x="7589520" y="3657600"/>
            <a:ext cx="1005840" cy="329184"/>
          </a:xfrm>
          <a:prstGeom prst="rect">
            <a:avLst/>
          </a:prstGeom>
          <a:noFill/>
          <a:ln/>
        </p:spPr>
        <p:txBody>
          <a:bodyPr wrap="square" lIns="0" tIns="0" rIns="0" bIns="0" rtlCol="0" anchor="ctr"/>
          <a:lstStyle/>
          <a:p>
            <a:pPr marL="0" indent="0" algn="r">
              <a:buNone/>
            </a:pPr>
            <a:r>
              <a:rPr lang="en-US" sz="1200" b="1" dirty="0">
                <a:solidFill>
                  <a:srgbClr val="2E8B57"/>
                </a:solidFill>
                <a:latin typeface="Arial" pitchFamily="34" charset="0"/>
                <a:ea typeface="Arial" pitchFamily="34" charset="-122"/>
                <a:cs typeface="Arial" pitchFamily="34" charset="-120"/>
              </a:rPr>
              <a:t>Done</a:t>
            </a:r>
            <a:endParaRPr lang="en-US" sz="1200" dirty="0"/>
          </a:p>
        </p:txBody>
      </p:sp>
      <p:sp>
        <p:nvSpPr>
          <p:cNvPr id="29" name="Text 26"/>
          <p:cNvSpPr txBox="1"/>
          <p:nvPr/>
        </p:nvSpPr>
        <p:spPr>
          <a:xfrm>
            <a:off x="4069080" y="4151376"/>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0" name="Text 27"/>
          <p:cNvSpPr txBox="1"/>
          <p:nvPr/>
        </p:nvSpPr>
        <p:spPr>
          <a:xfrm>
            <a:off x="4526280" y="4114800"/>
            <a:ext cx="3017520" cy="329184"/>
          </a:xfrm>
          <a:prstGeom prst="rect">
            <a:avLst/>
          </a:prstGeom>
          <a:noFill/>
          <a:ln/>
        </p:spPr>
        <p:txBody>
          <a:bodyPr wrap="square" lIns="0" tIns="0" rIns="0" bIns="0" rtlCol="0" anchor="ctr"/>
          <a:lstStyle/>
          <a:p>
            <a:pPr marL="0" indent="0">
              <a:buNone/>
            </a:pPr>
            <a:r>
              <a:rPr lang="en-US" sz="1350" dirty="0">
                <a:solidFill>
                  <a:srgbClr val="1F2937"/>
                </a:solidFill>
                <a:latin typeface="Arial" pitchFamily="34" charset="0"/>
                <a:ea typeface="Arial" pitchFamily="34" charset="-122"/>
                <a:cs typeface="Arial" pitchFamily="34" charset="-120"/>
              </a:rPr>
              <a:t>Unit testing (11 test cases)</a:t>
            </a:r>
            <a:endParaRPr lang="en-US" sz="1350" dirty="0"/>
          </a:p>
        </p:txBody>
      </p:sp>
      <p:sp>
        <p:nvSpPr>
          <p:cNvPr id="31" name="Text 28"/>
          <p:cNvSpPr txBox="1"/>
          <p:nvPr/>
        </p:nvSpPr>
        <p:spPr>
          <a:xfrm>
            <a:off x="7589520" y="4114800"/>
            <a:ext cx="1005840" cy="329184"/>
          </a:xfrm>
          <a:prstGeom prst="rect">
            <a:avLst/>
          </a:prstGeom>
          <a:noFill/>
          <a:ln/>
        </p:spPr>
        <p:txBody>
          <a:bodyPr wrap="square" lIns="0" tIns="0" rIns="0" bIns="0" rtlCol="0" anchor="ctr"/>
          <a:lstStyle/>
          <a:p>
            <a:pPr marL="0" indent="0" algn="r">
              <a:buNone/>
            </a:pPr>
            <a:r>
              <a:rPr lang="en-US" sz="1200" b="1" dirty="0">
                <a:solidFill>
                  <a:srgbClr val="2E8B57"/>
                </a:solidFill>
                <a:latin typeface="Arial" pitchFamily="34" charset="0"/>
                <a:ea typeface="Arial" pitchFamily="34" charset="-122"/>
                <a:cs typeface="Arial" pitchFamily="34" charset="-120"/>
              </a:rPr>
              <a:t>Done</a:t>
            </a:r>
            <a:endParaRPr lang="en-US" sz="1200" dirty="0"/>
          </a:p>
        </p:txBody>
      </p:sp>
      <p:sp>
        <p:nvSpPr>
          <p:cNvPr id="32" name="Shape 29"/>
          <p:cNvSpPr/>
          <p:nvPr/>
        </p:nvSpPr>
        <p:spPr>
          <a:xfrm>
            <a:off x="4069080" y="4608576"/>
            <a:ext cx="256032" cy="256032"/>
          </a:xfrm>
          <a:prstGeom prst="ellipse">
            <a:avLst/>
          </a:prstGeom>
          <a:solidFill>
            <a:srgbClr val="FFFFFF"/>
          </a:solidFill>
          <a:ln w="25400">
            <a:solidFill>
              <a:srgbClr val="E8A33D"/>
            </a:solidFill>
            <a:prstDash val="solid"/>
          </a:ln>
        </p:spPr>
      </p:sp>
      <p:sp>
        <p:nvSpPr>
          <p:cNvPr id="33" name="Text 30"/>
          <p:cNvSpPr txBox="1"/>
          <p:nvPr/>
        </p:nvSpPr>
        <p:spPr>
          <a:xfrm>
            <a:off x="4526280" y="4572000"/>
            <a:ext cx="3017520" cy="329184"/>
          </a:xfrm>
          <a:prstGeom prst="rect">
            <a:avLst/>
          </a:prstGeom>
          <a:noFill/>
          <a:ln/>
        </p:spPr>
        <p:txBody>
          <a:bodyPr wrap="square" lIns="0" tIns="0" rIns="0" bIns="0" rtlCol="0" anchor="ctr"/>
          <a:lstStyle/>
          <a:p>
            <a:pPr marL="0" indent="0">
              <a:buNone/>
            </a:pPr>
            <a:r>
              <a:rPr lang="en-US" sz="1350" dirty="0">
                <a:solidFill>
                  <a:srgbClr val="5B6B7B"/>
                </a:solidFill>
                <a:latin typeface="Arial" pitchFamily="34" charset="0"/>
                <a:ea typeface="Arial" pitchFamily="34" charset="-122"/>
                <a:cs typeface="Arial" pitchFamily="34" charset="-120"/>
              </a:rPr>
              <a:t>CSV export &amp; backup</a:t>
            </a:r>
            <a:endParaRPr lang="en-US" sz="1350" dirty="0"/>
          </a:p>
        </p:txBody>
      </p:sp>
      <p:sp>
        <p:nvSpPr>
          <p:cNvPr id="34" name="Text 31"/>
          <p:cNvSpPr txBox="1"/>
          <p:nvPr/>
        </p:nvSpPr>
        <p:spPr>
          <a:xfrm>
            <a:off x="7589520" y="4572000"/>
            <a:ext cx="1005840" cy="329184"/>
          </a:xfrm>
          <a:prstGeom prst="rect">
            <a:avLst/>
          </a:prstGeom>
          <a:noFill/>
          <a:ln/>
        </p:spPr>
        <p:txBody>
          <a:bodyPr wrap="square" lIns="0" tIns="0" rIns="0" bIns="0" rtlCol="0" anchor="ctr"/>
          <a:lstStyle/>
          <a:p>
            <a:pPr marL="0" indent="0" algn="r">
              <a:buNone/>
            </a:pPr>
            <a:r>
              <a:rPr lang="en-US" sz="1200" b="1" dirty="0">
                <a:solidFill>
                  <a:srgbClr val="E8A33D"/>
                </a:solidFill>
                <a:latin typeface="Arial" pitchFamily="34" charset="0"/>
                <a:ea typeface="Arial" pitchFamily="34" charset="-122"/>
                <a:cs typeface="Arial" pitchFamily="34" charset="-120"/>
              </a:rPr>
              <a:t>Planned</a:t>
            </a:r>
            <a:endParaRPr lang="en-US" sz="1200" dirty="0"/>
          </a:p>
        </p:txBody>
      </p:sp>
      <p:sp>
        <p:nvSpPr>
          <p:cNvPr id="35" name="Shape 32"/>
          <p:cNvSpPr/>
          <p:nvPr/>
        </p:nvSpPr>
        <p:spPr>
          <a:xfrm>
            <a:off x="4069080" y="5065776"/>
            <a:ext cx="256032" cy="256032"/>
          </a:xfrm>
          <a:prstGeom prst="ellipse">
            <a:avLst/>
          </a:prstGeom>
          <a:solidFill>
            <a:srgbClr val="FFFFFF"/>
          </a:solidFill>
          <a:ln w="25400">
            <a:solidFill>
              <a:srgbClr val="E8A33D"/>
            </a:solidFill>
            <a:prstDash val="solid"/>
          </a:ln>
        </p:spPr>
      </p:sp>
      <p:sp>
        <p:nvSpPr>
          <p:cNvPr id="36" name="Text 33"/>
          <p:cNvSpPr txBox="1"/>
          <p:nvPr/>
        </p:nvSpPr>
        <p:spPr>
          <a:xfrm>
            <a:off x="4526280" y="5029200"/>
            <a:ext cx="3017520" cy="329184"/>
          </a:xfrm>
          <a:prstGeom prst="rect">
            <a:avLst/>
          </a:prstGeom>
          <a:noFill/>
          <a:ln/>
        </p:spPr>
        <p:txBody>
          <a:bodyPr wrap="square" lIns="0" tIns="0" rIns="0" bIns="0" rtlCol="0" anchor="ctr"/>
          <a:lstStyle/>
          <a:p>
            <a:pPr marL="0" indent="0">
              <a:buNone/>
            </a:pPr>
            <a:r>
              <a:rPr lang="en-US" sz="1350" dirty="0">
                <a:solidFill>
                  <a:srgbClr val="5B6B7B"/>
                </a:solidFill>
                <a:latin typeface="Arial" pitchFamily="34" charset="0"/>
                <a:ea typeface="Arial" pitchFamily="34" charset="-122"/>
                <a:cs typeface="Arial" pitchFamily="34" charset="-120"/>
              </a:rPr>
              <a:t>Sort &amp; filter options</a:t>
            </a:r>
            <a:endParaRPr lang="en-US" sz="1350" dirty="0"/>
          </a:p>
        </p:txBody>
      </p:sp>
      <p:sp>
        <p:nvSpPr>
          <p:cNvPr id="37" name="Text 34"/>
          <p:cNvSpPr txBox="1"/>
          <p:nvPr/>
        </p:nvSpPr>
        <p:spPr>
          <a:xfrm>
            <a:off x="7589520" y="5029200"/>
            <a:ext cx="1005840" cy="329184"/>
          </a:xfrm>
          <a:prstGeom prst="rect">
            <a:avLst/>
          </a:prstGeom>
          <a:noFill/>
          <a:ln/>
        </p:spPr>
        <p:txBody>
          <a:bodyPr wrap="square" lIns="0" tIns="0" rIns="0" bIns="0" rtlCol="0" anchor="ctr"/>
          <a:lstStyle/>
          <a:p>
            <a:pPr marL="0" indent="0" algn="r">
              <a:buNone/>
            </a:pPr>
            <a:r>
              <a:rPr lang="en-US" sz="1200" b="1" dirty="0">
                <a:solidFill>
                  <a:srgbClr val="E8A33D"/>
                </a:solidFill>
                <a:latin typeface="Arial" pitchFamily="34" charset="0"/>
                <a:ea typeface="Arial" pitchFamily="34" charset="-122"/>
                <a:cs typeface="Arial" pitchFamily="34" charset="-120"/>
              </a:rPr>
              <a:t>Planned</a:t>
            </a:r>
            <a:endParaRPr lang="en-US" sz="1200" dirty="0"/>
          </a:p>
        </p:txBody>
      </p:sp>
      <p:sp>
        <p:nvSpPr>
          <p:cNvPr id="38" name="Shape 35"/>
          <p:cNvSpPr/>
          <p:nvPr/>
        </p:nvSpPr>
        <p:spPr>
          <a:xfrm>
            <a:off x="4069080" y="5522976"/>
            <a:ext cx="256032" cy="256032"/>
          </a:xfrm>
          <a:prstGeom prst="ellipse">
            <a:avLst/>
          </a:prstGeom>
          <a:solidFill>
            <a:srgbClr val="FFFFFF"/>
          </a:solidFill>
          <a:ln w="25400">
            <a:solidFill>
              <a:srgbClr val="E8A33D"/>
            </a:solidFill>
            <a:prstDash val="solid"/>
          </a:ln>
        </p:spPr>
      </p:sp>
      <p:sp>
        <p:nvSpPr>
          <p:cNvPr id="39" name="Text 36"/>
          <p:cNvSpPr txBox="1"/>
          <p:nvPr/>
        </p:nvSpPr>
        <p:spPr>
          <a:xfrm>
            <a:off x="4526280" y="5486400"/>
            <a:ext cx="3017520" cy="329184"/>
          </a:xfrm>
          <a:prstGeom prst="rect">
            <a:avLst/>
          </a:prstGeom>
          <a:noFill/>
          <a:ln/>
        </p:spPr>
        <p:txBody>
          <a:bodyPr wrap="square" lIns="0" tIns="0" rIns="0" bIns="0" rtlCol="0" anchor="ctr"/>
          <a:lstStyle/>
          <a:p>
            <a:pPr marL="0" indent="0">
              <a:buNone/>
            </a:pPr>
            <a:r>
              <a:rPr lang="en-US" sz="1350" dirty="0">
                <a:solidFill>
                  <a:srgbClr val="5B6B7B"/>
                </a:solidFill>
                <a:latin typeface="Arial" pitchFamily="34" charset="0"/>
                <a:ea typeface="Arial" pitchFamily="34" charset="-122"/>
                <a:cs typeface="Arial" pitchFamily="34" charset="-120"/>
              </a:rPr>
              <a:t>Final README, report &amp; viva</a:t>
            </a:r>
            <a:endParaRPr lang="en-US" sz="1350" dirty="0"/>
          </a:p>
        </p:txBody>
      </p:sp>
      <p:sp>
        <p:nvSpPr>
          <p:cNvPr id="40" name="Text 37"/>
          <p:cNvSpPr txBox="1"/>
          <p:nvPr/>
        </p:nvSpPr>
        <p:spPr>
          <a:xfrm>
            <a:off x="7589520" y="5486400"/>
            <a:ext cx="1005840" cy="329184"/>
          </a:xfrm>
          <a:prstGeom prst="rect">
            <a:avLst/>
          </a:prstGeom>
          <a:noFill/>
          <a:ln/>
        </p:spPr>
        <p:txBody>
          <a:bodyPr wrap="square" lIns="0" tIns="0" rIns="0" bIns="0" rtlCol="0" anchor="ctr"/>
          <a:lstStyle/>
          <a:p>
            <a:pPr marL="0" indent="0" algn="r">
              <a:buNone/>
            </a:pPr>
            <a:r>
              <a:rPr lang="en-US" sz="1200" b="1" dirty="0">
                <a:solidFill>
                  <a:srgbClr val="E8A33D"/>
                </a:solidFill>
                <a:latin typeface="Arial" pitchFamily="34" charset="0"/>
                <a:ea typeface="Arial" pitchFamily="34" charset="-122"/>
                <a:cs typeface="Arial" pitchFamily="34" charset="-120"/>
              </a:rPr>
              <a:t>In progress</a:t>
            </a:r>
            <a:endParaRPr lang="en-US" sz="1200" dirty="0"/>
          </a:p>
        </p:txBody>
      </p:sp>
      <p:sp>
        <p:nvSpPr>
          <p:cNvPr id="41"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Program Design</a:t>
            </a:r>
            <a:endParaRPr lang="en-US" sz="3000" dirty="0"/>
          </a:p>
        </p:txBody>
      </p:sp>
      <p:sp>
        <p:nvSpPr>
          <p:cNvPr id="3" name="Text 1"/>
          <p:cNvSpPr txBox="1"/>
          <p:nvPr/>
        </p:nvSpPr>
        <p:spPr>
          <a:xfrm>
            <a:off x="548640" y="1188720"/>
            <a:ext cx="3657600" cy="320040"/>
          </a:xfrm>
          <a:prstGeom prst="rect">
            <a:avLst/>
          </a:prstGeom>
          <a:noFill/>
          <a:ln/>
        </p:spPr>
        <p:txBody>
          <a:bodyPr wrap="square" lIns="0" tIns="0" rIns="0" bIns="0" rtlCol="0" anchor="ctr"/>
          <a:lstStyle/>
          <a:p>
            <a:pPr marL="0" indent="0">
              <a:buNone/>
            </a:pPr>
            <a:r>
              <a:rPr lang="en-US" sz="1600" b="1" dirty="0">
                <a:solidFill>
                  <a:srgbClr val="1F2937"/>
                </a:solidFill>
                <a:latin typeface="Arial" pitchFamily="34" charset="0"/>
                <a:ea typeface="Arial" pitchFamily="34" charset="-122"/>
                <a:cs typeface="Arial" pitchFamily="34" charset="-120"/>
              </a:rPr>
              <a:t>Data structure</a:t>
            </a:r>
            <a:endParaRPr lang="en-US" sz="1600" dirty="0"/>
          </a:p>
        </p:txBody>
      </p:sp>
      <p:sp>
        <p:nvSpPr>
          <p:cNvPr id="4" name="Shape 2"/>
          <p:cNvSpPr/>
          <p:nvPr/>
        </p:nvSpPr>
        <p:spPr>
          <a:xfrm>
            <a:off x="548640" y="1600200"/>
            <a:ext cx="3657600" cy="1833118"/>
          </a:xfrm>
          <a:prstGeom prst="roundRect">
            <a:avLst>
              <a:gd name="adj" fmla="val 3991"/>
            </a:avLst>
          </a:prstGeom>
          <a:solidFill>
            <a:srgbClr val="12213A"/>
          </a:solidFill>
          <a:ln w="12700">
            <a:solidFill>
              <a:srgbClr val="12213A"/>
            </a:solidFill>
            <a:prstDash val="solid"/>
          </a:ln>
          <a:effectLst>
            <a:outerShdw blurRad="50800" dist="25400" dir="5400000" algn="bl" rotWithShape="0">
              <a:srgbClr val="000000">
                <a:alpha val="25000"/>
              </a:srgbClr>
            </a:outerShdw>
          </a:effectLst>
        </p:spPr>
      </p:sp>
      <p:sp>
        <p:nvSpPr>
          <p:cNvPr id="5" name="Shape 3"/>
          <p:cNvSpPr/>
          <p:nvPr/>
        </p:nvSpPr>
        <p:spPr>
          <a:xfrm>
            <a:off x="731520" y="1755648"/>
            <a:ext cx="118872" cy="118872"/>
          </a:xfrm>
          <a:prstGeom prst="ellipse">
            <a:avLst/>
          </a:prstGeom>
          <a:solidFill>
            <a:srgbClr val="FF5F57"/>
          </a:solidFill>
          <a:ln w="12700">
            <a:solidFill>
              <a:srgbClr val="FF5F57"/>
            </a:solidFill>
            <a:prstDash val="solid"/>
          </a:ln>
        </p:spPr>
      </p:sp>
      <p:sp>
        <p:nvSpPr>
          <p:cNvPr id="6" name="Shape 4"/>
          <p:cNvSpPr/>
          <p:nvPr/>
        </p:nvSpPr>
        <p:spPr>
          <a:xfrm>
            <a:off x="914400" y="1755648"/>
            <a:ext cx="118872" cy="118872"/>
          </a:xfrm>
          <a:prstGeom prst="ellipse">
            <a:avLst/>
          </a:prstGeom>
          <a:solidFill>
            <a:srgbClr val="FEBC2E"/>
          </a:solidFill>
          <a:ln w="12700">
            <a:solidFill>
              <a:srgbClr val="FEBC2E"/>
            </a:solidFill>
            <a:prstDash val="solid"/>
          </a:ln>
        </p:spPr>
      </p:sp>
      <p:sp>
        <p:nvSpPr>
          <p:cNvPr id="7" name="Shape 5"/>
          <p:cNvSpPr/>
          <p:nvPr/>
        </p:nvSpPr>
        <p:spPr>
          <a:xfrm>
            <a:off x="1097280" y="1755648"/>
            <a:ext cx="118872" cy="118872"/>
          </a:xfrm>
          <a:prstGeom prst="ellipse">
            <a:avLst/>
          </a:prstGeom>
          <a:solidFill>
            <a:srgbClr val="28C840"/>
          </a:solidFill>
          <a:ln w="12700">
            <a:solidFill>
              <a:srgbClr val="28C840"/>
            </a:solidFill>
            <a:prstDash val="solid"/>
          </a:ln>
        </p:spPr>
      </p:sp>
      <p:sp>
        <p:nvSpPr>
          <p:cNvPr id="8" name="Text 6"/>
          <p:cNvSpPr txBox="1"/>
          <p:nvPr/>
        </p:nvSpPr>
        <p:spPr>
          <a:xfrm>
            <a:off x="1463040" y="1691640"/>
            <a:ext cx="2560320" cy="256032"/>
          </a:xfrm>
          <a:prstGeom prst="rect">
            <a:avLst/>
          </a:prstGeom>
          <a:noFill/>
          <a:ln/>
        </p:spPr>
        <p:txBody>
          <a:bodyPr wrap="square" lIns="0" tIns="0" rIns="0" bIns="0" rtlCol="0" anchor="ctr"/>
          <a:lstStyle/>
          <a:p>
            <a:pPr marL="0" indent="0">
              <a:buNone/>
            </a:pPr>
            <a:r>
              <a:rPr lang="en-US" sz="1100" dirty="0">
                <a:solidFill>
                  <a:srgbClr val="7F93AD"/>
                </a:solidFill>
                <a:latin typeface="Courier New" pitchFamily="34" charset="0"/>
                <a:ea typeface="Courier New" pitchFamily="34" charset="-122"/>
                <a:cs typeface="Courier New" pitchFamily="34" charset="-120"/>
              </a:rPr>
              <a:t>contacts.json</a:t>
            </a:r>
            <a:endParaRPr lang="en-US" sz="1100" dirty="0"/>
          </a:p>
        </p:txBody>
      </p:sp>
      <p:sp>
        <p:nvSpPr>
          <p:cNvPr id="9" name="Text 7"/>
          <p:cNvSpPr txBox="1"/>
          <p:nvPr/>
        </p:nvSpPr>
        <p:spPr>
          <a:xfrm>
            <a:off x="822960" y="2057400"/>
            <a:ext cx="3200400" cy="1238758"/>
          </a:xfrm>
          <a:prstGeom prst="rect">
            <a:avLst/>
          </a:prstGeom>
          <a:noFill/>
          <a:ln/>
        </p:spPr>
        <p:txBody>
          <a:bodyPr wrap="square" lIns="0" tIns="0" rIns="0" bIns="0" rtlCol="0" anchor="t"/>
          <a:lstStyle/>
          <a:p>
            <a:pPr marL="0" indent="0">
              <a:buNone/>
            </a:pPr>
            <a:r>
              <a:rPr lang="en-US" sz="1100" dirty="0">
                <a:solidFill>
                  <a:srgbClr val="E8EEF5"/>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    </a:t>
            </a:r>
            <a:r>
              <a:rPr lang="en-US" sz="1100" dirty="0">
                <a:solidFill>
                  <a:srgbClr val="8FD694"/>
                </a:solidFill>
                <a:latin typeface="Courier New" pitchFamily="34" charset="0"/>
                <a:ea typeface="Courier New" pitchFamily="34" charset="-122"/>
                <a:cs typeface="Courier New" pitchFamily="34" charset="-120"/>
              </a:rPr>
              <a:t>"name"</a:t>
            </a:r>
            <a:r>
              <a:rPr lang="en-US" sz="1100" dirty="0">
                <a:solidFill>
                  <a:srgbClr val="E8EEF5"/>
                </a:solidFill>
                <a:latin typeface="Courier New" pitchFamily="34" charset="0"/>
                <a:ea typeface="Courier New" pitchFamily="34" charset="-122"/>
                <a:cs typeface="Courier New" pitchFamily="34" charset="-120"/>
              </a:rPr>
              <a:t>: </a:t>
            </a:r>
            <a:r>
              <a:rPr lang="en-US" sz="1100" dirty="0">
                <a:solidFill>
                  <a:srgbClr val="8FD694"/>
                </a:solidFill>
                <a:latin typeface="Courier New" pitchFamily="34" charset="0"/>
                <a:ea typeface="Courier New" pitchFamily="34" charset="-122"/>
                <a:cs typeface="Courier New" pitchFamily="34" charset="-120"/>
              </a:rPr>
              <a:t>"Roshani Wankhede"</a:t>
            </a:r>
            <a:r>
              <a:rPr lang="en-US" sz="1100" dirty="0">
                <a:solidFill>
                  <a:srgbClr val="E8EEF5"/>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    </a:t>
            </a:r>
            <a:r>
              <a:rPr lang="en-US" sz="1100" dirty="0">
                <a:solidFill>
                  <a:srgbClr val="8FD694"/>
                </a:solidFill>
                <a:latin typeface="Courier New" pitchFamily="34" charset="0"/>
                <a:ea typeface="Courier New" pitchFamily="34" charset="-122"/>
                <a:cs typeface="Courier New" pitchFamily="34" charset="-120"/>
              </a:rPr>
              <a:t>"phone"</a:t>
            </a:r>
            <a:r>
              <a:rPr lang="en-US" sz="1100" dirty="0">
                <a:solidFill>
                  <a:srgbClr val="E8EEF5"/>
                </a:solidFill>
                <a:latin typeface="Courier New" pitchFamily="34" charset="0"/>
                <a:ea typeface="Courier New" pitchFamily="34" charset="-122"/>
                <a:cs typeface="Courier New" pitchFamily="34" charset="-120"/>
              </a:rPr>
              <a:t>: </a:t>
            </a:r>
            <a:r>
              <a:rPr lang="en-US" sz="1100" dirty="0">
                <a:solidFill>
                  <a:srgbClr val="8FD694"/>
                </a:solidFill>
                <a:latin typeface="Courier New" pitchFamily="34" charset="0"/>
                <a:ea typeface="Courier New" pitchFamily="34" charset="-122"/>
                <a:cs typeface="Courier New" pitchFamily="34" charset="-120"/>
              </a:rPr>
              <a:t>"9876543210"</a:t>
            </a:r>
            <a:r>
              <a:rPr lang="en-US" sz="1100" dirty="0">
                <a:solidFill>
                  <a:srgbClr val="E8EEF5"/>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    </a:t>
            </a:r>
            <a:r>
              <a:rPr lang="en-US" sz="1100" dirty="0">
                <a:solidFill>
                  <a:srgbClr val="8FD694"/>
                </a:solidFill>
                <a:latin typeface="Courier New" pitchFamily="34" charset="0"/>
                <a:ea typeface="Courier New" pitchFamily="34" charset="-122"/>
                <a:cs typeface="Courier New" pitchFamily="34" charset="-120"/>
              </a:rPr>
              <a:t>"email"</a:t>
            </a:r>
            <a:r>
              <a:rPr lang="en-US" sz="1100" dirty="0">
                <a:solidFill>
                  <a:srgbClr val="E8EEF5"/>
                </a:solidFill>
                <a:latin typeface="Courier New" pitchFamily="34" charset="0"/>
                <a:ea typeface="Courier New" pitchFamily="34" charset="-122"/>
                <a:cs typeface="Courier New" pitchFamily="34" charset="-120"/>
              </a:rPr>
              <a:t>: </a:t>
            </a:r>
            <a:r>
              <a:rPr lang="en-US" sz="1100" dirty="0">
                <a:solidFill>
                  <a:srgbClr val="8FD694"/>
                </a:solidFill>
                <a:latin typeface="Courier New" pitchFamily="34" charset="0"/>
                <a:ea typeface="Courier New" pitchFamily="34" charset="-122"/>
                <a:cs typeface="Courier New" pitchFamily="34" charset="-120"/>
              </a:rPr>
              <a:t>"roshani@gmail.com"</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a:t>
            </a:r>
            <a:endParaRPr lang="en-US" sz="1100" dirty="0"/>
          </a:p>
        </p:txBody>
      </p:sp>
      <p:sp>
        <p:nvSpPr>
          <p:cNvPr id="10" name="Text 8"/>
          <p:cNvSpPr txBox="1"/>
          <p:nvPr/>
        </p:nvSpPr>
        <p:spPr>
          <a:xfrm>
            <a:off x="548640" y="3570478"/>
            <a:ext cx="3657600" cy="548640"/>
          </a:xfrm>
          <a:prstGeom prst="rect">
            <a:avLst/>
          </a:prstGeom>
          <a:noFill/>
          <a:ln/>
        </p:spPr>
        <p:txBody>
          <a:bodyPr wrap="square" lIns="0" tIns="0" rIns="0" bIns="0" rtlCol="0" anchor="ctr"/>
          <a:lstStyle/>
          <a:p>
            <a:pPr marL="0" indent="0">
              <a:buNone/>
            </a:pPr>
            <a:r>
              <a:rPr lang="en-US" sz="1300" dirty="0">
                <a:solidFill>
                  <a:srgbClr val="5B6B7B"/>
                </a:solidFill>
                <a:latin typeface="Arial" pitchFamily="34" charset="0"/>
                <a:ea typeface="Arial" pitchFamily="34" charset="-122"/>
                <a:cs typeface="Arial" pitchFamily="34" charset="-120"/>
              </a:rPr>
              <a:t>One contact = one dictionary.</a:t>
            </a:r>
            <a:endParaRPr lang="en-US" sz="1300" dirty="0"/>
          </a:p>
          <a:p>
            <a:pPr marL="0" indent="0">
              <a:buNone/>
            </a:pPr>
            <a:r>
              <a:rPr lang="en-US" sz="1300" dirty="0">
                <a:solidFill>
                  <a:srgbClr val="5B6B7B"/>
                </a:solidFill>
                <a:latin typeface="Arial" pitchFamily="34" charset="0"/>
                <a:ea typeface="Arial" pitchFamily="34" charset="-122"/>
                <a:cs typeface="Arial" pitchFamily="34" charset="-120"/>
              </a:rPr>
              <a:t>The contact book = a list of dictionaries.</a:t>
            </a:r>
            <a:endParaRPr lang="en-US" sz="1300" dirty="0"/>
          </a:p>
        </p:txBody>
      </p:sp>
      <p:sp>
        <p:nvSpPr>
          <p:cNvPr id="11" name="Text 9"/>
          <p:cNvSpPr txBox="1"/>
          <p:nvPr/>
        </p:nvSpPr>
        <p:spPr>
          <a:xfrm>
            <a:off x="548640" y="4343400"/>
            <a:ext cx="3657600" cy="320040"/>
          </a:xfrm>
          <a:prstGeom prst="rect">
            <a:avLst/>
          </a:prstGeom>
          <a:noFill/>
          <a:ln/>
        </p:spPr>
        <p:txBody>
          <a:bodyPr wrap="square" lIns="0" tIns="0" rIns="0" bIns="0" rtlCol="0" anchor="ctr"/>
          <a:lstStyle/>
          <a:p>
            <a:pPr marL="0" indent="0">
              <a:buNone/>
            </a:pPr>
            <a:r>
              <a:rPr lang="en-US" sz="1600" b="1" dirty="0">
                <a:solidFill>
                  <a:srgbClr val="1F2937"/>
                </a:solidFill>
                <a:latin typeface="Arial" pitchFamily="34" charset="0"/>
                <a:ea typeface="Arial" pitchFamily="34" charset="-122"/>
                <a:cs typeface="Arial" pitchFamily="34" charset="-120"/>
              </a:rPr>
              <a:t>Python modules used</a:t>
            </a:r>
            <a:endParaRPr lang="en-US" sz="1600" dirty="0"/>
          </a:p>
        </p:txBody>
      </p:sp>
      <p:sp>
        <p:nvSpPr>
          <p:cNvPr id="12" name="Text 10"/>
          <p:cNvSpPr txBox="1"/>
          <p:nvPr/>
        </p:nvSpPr>
        <p:spPr>
          <a:xfrm>
            <a:off x="548640" y="4754880"/>
            <a:ext cx="1097280" cy="384048"/>
          </a:xfrm>
          <a:prstGeom prst="roundRect">
            <a:avLst>
              <a:gd name="adj" fmla="val 23810"/>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import json</a:t>
            </a:r>
            <a:endParaRPr lang="en-US" sz="1200" dirty="0"/>
          </a:p>
        </p:txBody>
      </p:sp>
      <p:sp>
        <p:nvSpPr>
          <p:cNvPr id="13" name="Text 11"/>
          <p:cNvSpPr txBox="1"/>
          <p:nvPr/>
        </p:nvSpPr>
        <p:spPr>
          <a:xfrm>
            <a:off x="1783080" y="4754880"/>
            <a:ext cx="1097280" cy="384048"/>
          </a:xfrm>
          <a:prstGeom prst="roundRect">
            <a:avLst>
              <a:gd name="adj" fmla="val 23810"/>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import os</a:t>
            </a:r>
            <a:endParaRPr lang="en-US" sz="1200" dirty="0"/>
          </a:p>
        </p:txBody>
      </p:sp>
      <p:sp>
        <p:nvSpPr>
          <p:cNvPr id="14" name="Text 12"/>
          <p:cNvSpPr txBox="1"/>
          <p:nvPr/>
        </p:nvSpPr>
        <p:spPr>
          <a:xfrm>
            <a:off x="3017520" y="4754880"/>
            <a:ext cx="1097280" cy="384048"/>
          </a:xfrm>
          <a:prstGeom prst="roundRect">
            <a:avLst>
              <a:gd name="adj" fmla="val 23810"/>
            </a:avLst>
          </a:prstGeom>
          <a:solidFill>
            <a:srgbClr val="1B365D"/>
          </a:solidFill>
          <a:ln w="12700">
            <a:solidFill>
              <a:srgbClr val="1B365D"/>
            </a:solidFill>
          </a:ln>
        </p:spPr>
        <p:txBody>
          <a:bodyPr wrap="square" lIns="381" tIns="381" rIns="381" bIns="381"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import re</a:t>
            </a:r>
            <a:endParaRPr lang="en-US" sz="1200" dirty="0"/>
          </a:p>
        </p:txBody>
      </p:sp>
      <p:sp>
        <p:nvSpPr>
          <p:cNvPr id="15" name="Text 13"/>
          <p:cNvSpPr txBox="1"/>
          <p:nvPr/>
        </p:nvSpPr>
        <p:spPr>
          <a:xfrm>
            <a:off x="548640" y="5257800"/>
            <a:ext cx="3657600" cy="457200"/>
          </a:xfrm>
          <a:prstGeom prst="rect">
            <a:avLst/>
          </a:prstGeom>
          <a:noFill/>
          <a:ln/>
        </p:spPr>
        <p:txBody>
          <a:bodyPr wrap="square" lIns="0" tIns="0" rIns="0" bIns="0" rtlCol="0" anchor="ctr"/>
          <a:lstStyle/>
          <a:p>
            <a:pPr marL="0" indent="0">
              <a:buNone/>
            </a:pPr>
            <a:r>
              <a:rPr lang="en-US" sz="1200" dirty="0">
                <a:solidFill>
                  <a:srgbClr val="5B6B7B"/>
                </a:solidFill>
                <a:latin typeface="Arial" pitchFamily="34" charset="0"/>
                <a:ea typeface="Arial" pitchFamily="34" charset="-122"/>
                <a:cs typeface="Arial" pitchFamily="34" charset="-120"/>
              </a:rPr>
              <a:t>json: file storage · os: file check · re: email pattern</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26280" y="1188720"/>
          <a:ext cx="4069080" cy="4389120"/>
        </p:xfrm>
        <a:graphic>
          <a:graphicData uri="http://schemas.openxmlformats.org/drawingml/2006/table">
            <a:tbl>
              <a:tblPr/>
              <a:tblGrid>
                <a:gridCol w="18288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Arial" pitchFamily="34" charset="0"/>
                          <a:ea typeface="Arial" pitchFamily="34" charset="-122"/>
                          <a:cs typeface="Arial" pitchFamily="34" charset="-120"/>
                        </a:rPr>
                        <a:t>Function</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B36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Purpose</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B365D"/>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load_contacts()</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Read contacts.json</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save_contacts()</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Write contacts.json</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add_contact()</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Validate &amp; add record</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search_contacts()</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Match name or phone</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edit_contact()</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Update phone / email</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delete_contact()</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Remove a record</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find_index()</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Locate contact by name</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7"/>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is_valid_phone()</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10-digit check</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is_valid_email()</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Regex format check</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9"/>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show_contacts()</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Print sorted table</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5760">
                <a:tc>
                  <a:txBody>
                    <a:bodyPr/>
                    <a:lstStyle/>
                    <a:p>
                      <a:pPr marL="0" indent="0">
                        <a:buNone/>
                      </a:pPr>
                      <a:r>
                        <a:rPr lang="en-US" sz="1100" b="1" dirty="0">
                          <a:solidFill>
                            <a:srgbClr val="1B365D"/>
                          </a:solidFill>
                          <a:latin typeface="Courier New" pitchFamily="34" charset="0"/>
                          <a:ea typeface="Courier New" pitchFamily="34" charset="-122"/>
                          <a:cs typeface="Courier New" pitchFamily="34" charset="-120"/>
                        </a:rPr>
                        <a:t>main()</a:t>
                      </a:r>
                      <a:endParaRPr lang="en-US" sz="110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200" dirty="0">
                          <a:solidFill>
                            <a:srgbClr val="1F2937"/>
                          </a:solidFill>
                          <a:latin typeface="Arial" pitchFamily="34" charset="0"/>
                          <a:ea typeface="Arial" pitchFamily="34" charset="-122"/>
                          <a:cs typeface="Arial" pitchFamily="34" charset="-120"/>
                        </a:rPr>
                        <a:t>Menu loop &amp; dispatch</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Implementation: File Handling</a:t>
            </a:r>
            <a:endParaRPr lang="en-US" sz="3000" dirty="0"/>
          </a:p>
        </p:txBody>
      </p:sp>
      <p:sp>
        <p:nvSpPr>
          <p:cNvPr id="3" name="Shape 1"/>
          <p:cNvSpPr/>
          <p:nvPr/>
        </p:nvSpPr>
        <p:spPr>
          <a:xfrm>
            <a:off x="548640" y="1198051"/>
            <a:ext cx="8046720" cy="3862832"/>
          </a:xfrm>
          <a:prstGeom prst="roundRect">
            <a:avLst>
              <a:gd name="adj" fmla="val 1894"/>
            </a:avLst>
          </a:prstGeom>
          <a:solidFill>
            <a:srgbClr val="12213A"/>
          </a:solidFill>
          <a:ln w="12700">
            <a:solidFill>
              <a:srgbClr val="12213A"/>
            </a:solidFill>
            <a:prstDash val="solid"/>
          </a:ln>
          <a:effectLst>
            <a:outerShdw blurRad="50800" dist="25400" dir="5400000" algn="bl" rotWithShape="0">
              <a:srgbClr val="000000">
                <a:alpha val="25000"/>
              </a:srgbClr>
            </a:outerShdw>
          </a:effectLst>
        </p:spPr>
      </p:sp>
      <p:sp>
        <p:nvSpPr>
          <p:cNvPr id="4" name="Shape 2"/>
          <p:cNvSpPr/>
          <p:nvPr/>
        </p:nvSpPr>
        <p:spPr>
          <a:xfrm>
            <a:off x="731520" y="1344168"/>
            <a:ext cx="118872" cy="118872"/>
          </a:xfrm>
          <a:prstGeom prst="ellipse">
            <a:avLst/>
          </a:prstGeom>
          <a:solidFill>
            <a:srgbClr val="FF5F57"/>
          </a:solidFill>
          <a:ln w="12700">
            <a:solidFill>
              <a:srgbClr val="FF5F57"/>
            </a:solidFill>
            <a:prstDash val="solid"/>
          </a:ln>
        </p:spPr>
      </p:sp>
      <p:sp>
        <p:nvSpPr>
          <p:cNvPr id="5" name="Shape 3"/>
          <p:cNvSpPr/>
          <p:nvPr/>
        </p:nvSpPr>
        <p:spPr>
          <a:xfrm>
            <a:off x="914400" y="1344168"/>
            <a:ext cx="118872" cy="118872"/>
          </a:xfrm>
          <a:prstGeom prst="ellipse">
            <a:avLst/>
          </a:prstGeom>
          <a:solidFill>
            <a:srgbClr val="FEBC2E"/>
          </a:solidFill>
          <a:ln w="12700">
            <a:solidFill>
              <a:srgbClr val="FEBC2E"/>
            </a:solidFill>
            <a:prstDash val="solid"/>
          </a:ln>
        </p:spPr>
      </p:sp>
      <p:sp>
        <p:nvSpPr>
          <p:cNvPr id="6" name="Shape 4"/>
          <p:cNvSpPr/>
          <p:nvPr/>
        </p:nvSpPr>
        <p:spPr>
          <a:xfrm>
            <a:off x="1097280" y="1344168"/>
            <a:ext cx="118872" cy="118872"/>
          </a:xfrm>
          <a:prstGeom prst="ellipse">
            <a:avLst/>
          </a:prstGeom>
          <a:solidFill>
            <a:srgbClr val="28C840"/>
          </a:solidFill>
          <a:ln w="12700">
            <a:solidFill>
              <a:srgbClr val="28C840"/>
            </a:solidFill>
            <a:prstDash val="solid"/>
          </a:ln>
        </p:spPr>
      </p:sp>
      <p:sp>
        <p:nvSpPr>
          <p:cNvPr id="7" name="Text 5"/>
          <p:cNvSpPr txBox="1"/>
          <p:nvPr/>
        </p:nvSpPr>
        <p:spPr>
          <a:xfrm>
            <a:off x="1463040" y="1280160"/>
            <a:ext cx="6949440" cy="256032"/>
          </a:xfrm>
          <a:prstGeom prst="rect">
            <a:avLst/>
          </a:prstGeom>
          <a:noFill/>
          <a:ln/>
        </p:spPr>
        <p:txBody>
          <a:bodyPr wrap="square" lIns="0" tIns="0" rIns="0" bIns="0" rtlCol="0" anchor="ctr"/>
          <a:lstStyle/>
          <a:p>
            <a:pPr marL="0" indent="0">
              <a:buNone/>
            </a:pPr>
            <a:r>
              <a:rPr lang="en-US" sz="1100" dirty="0">
                <a:solidFill>
                  <a:srgbClr val="7F93AD"/>
                </a:solidFill>
                <a:latin typeface="Courier New" pitchFamily="34" charset="0"/>
                <a:ea typeface="Courier New" pitchFamily="34" charset="-122"/>
                <a:cs typeface="Courier New" pitchFamily="34" charset="-120"/>
              </a:rPr>
              <a:t>contact_book.py</a:t>
            </a:r>
            <a:endParaRPr lang="en-US" sz="1100" dirty="0"/>
          </a:p>
        </p:txBody>
      </p:sp>
      <p:sp>
        <p:nvSpPr>
          <p:cNvPr id="8" name="Text 6"/>
          <p:cNvSpPr txBox="1"/>
          <p:nvPr/>
        </p:nvSpPr>
        <p:spPr>
          <a:xfrm>
            <a:off x="822960" y="1645920"/>
            <a:ext cx="7589520" cy="3268472"/>
          </a:xfrm>
          <a:prstGeom prst="rect">
            <a:avLst/>
          </a:prstGeom>
          <a:noFill/>
          <a:ln/>
        </p:spPr>
        <p:txBody>
          <a:bodyPr wrap="square" lIns="0" tIns="0" rIns="0" bIns="0" rtlCol="0" anchor="t"/>
          <a:lstStyle/>
          <a:p>
            <a:pPr marL="0" indent="0">
              <a:buNone/>
            </a:pPr>
            <a:r>
              <a:rPr lang="en-US" sz="1300" dirty="0">
                <a:solidFill>
                  <a:srgbClr val="F4A259"/>
                </a:solidFill>
                <a:latin typeface="Courier New" pitchFamily="34" charset="0"/>
                <a:ea typeface="Courier New" pitchFamily="34" charset="-122"/>
                <a:cs typeface="Courier New" pitchFamily="34" charset="-120"/>
              </a:rPr>
              <a:t>def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FD166"/>
                </a:solidFill>
                <a:latin typeface="Courier New" pitchFamily="34" charset="0"/>
                <a:ea typeface="Courier New" pitchFamily="34" charset="-122"/>
                <a:cs typeface="Courier New" pitchFamily="34" charset="-120"/>
              </a:rPr>
              <a:t>load_contacts</a:t>
            </a:r>
            <a:r>
              <a:rPr lang="en-US" sz="1300" dirty="0">
                <a:solidFill>
                  <a:srgbClr val="E8EEF5"/>
                </a:solidFill>
                <a:latin typeface="Courier New" pitchFamily="34" charset="0"/>
                <a:ea typeface="Courier New" pitchFamily="34" charset="-122"/>
                <a:cs typeface="Courier New" pitchFamily="34" charset="-120"/>
              </a:rPr>
              <a:t>(path=FILE_NAME):</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if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not</a:t>
            </a:r>
            <a:r>
              <a:rPr lang="en-US" sz="1300" dirty="0">
                <a:solidFill>
                  <a:srgbClr val="E8EEF5"/>
                </a:solidFill>
                <a:latin typeface="Courier New" pitchFamily="34" charset="0"/>
                <a:ea typeface="Courier New" pitchFamily="34" charset="-122"/>
                <a:cs typeface="Courier New" pitchFamily="34" charset="-120"/>
              </a:rPr>
              <a:t> os.path.exists(path):</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try</a:t>
            </a:r>
            <a:r>
              <a:rPr lang="en-US" sz="1300" dirty="0">
                <a:solidFill>
                  <a:srgbClr val="E8EEF5"/>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with</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7FB4FF"/>
                </a:solidFill>
                <a:latin typeface="Courier New" pitchFamily="34" charset="0"/>
                <a:ea typeface="Courier New" pitchFamily="34" charset="-122"/>
                <a:cs typeface="Courier New" pitchFamily="34" charset="-120"/>
              </a:rPr>
              <a:t>open</a:t>
            </a:r>
            <a:r>
              <a:rPr lang="en-US" sz="1300" dirty="0">
                <a:solidFill>
                  <a:srgbClr val="E8EEF5"/>
                </a:solidFill>
                <a:latin typeface="Courier New" pitchFamily="34" charset="0"/>
                <a:ea typeface="Courier New" pitchFamily="34" charset="-122"/>
                <a:cs typeface="Courier New" pitchFamily="34" charset="-120"/>
              </a:rPr>
              <a:t>(path, </a:t>
            </a:r>
            <a:r>
              <a:rPr lang="en-US" sz="1300" dirty="0">
                <a:solidFill>
                  <a:srgbClr val="8FD694"/>
                </a:solidFill>
                <a:latin typeface="Courier New" pitchFamily="34" charset="0"/>
                <a:ea typeface="Courier New" pitchFamily="34" charset="-122"/>
                <a:cs typeface="Courier New" pitchFamily="34" charset="-120"/>
              </a:rPr>
              <a:t>"r"</a:t>
            </a:r>
            <a:r>
              <a:rPr lang="en-US" sz="1300" dirty="0">
                <a:solidFill>
                  <a:srgbClr val="E8EEF5"/>
                </a:solidFill>
                <a:latin typeface="Courier New" pitchFamily="34" charset="0"/>
                <a:ea typeface="Courier New" pitchFamily="34" charset="-122"/>
                <a:cs typeface="Courier New" pitchFamily="34" charset="-120"/>
              </a:rPr>
              <a:t>, encoding=</a:t>
            </a:r>
            <a:r>
              <a:rPr lang="en-US" sz="1300" dirty="0">
                <a:solidFill>
                  <a:srgbClr val="8FD694"/>
                </a:solidFill>
                <a:latin typeface="Courier New" pitchFamily="34" charset="0"/>
                <a:ea typeface="Courier New" pitchFamily="34" charset="-122"/>
                <a:cs typeface="Courier New" pitchFamily="34" charset="-120"/>
              </a:rPr>
              <a:t>"utf-8"</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as</a:t>
            </a:r>
            <a:r>
              <a:rPr lang="en-US" sz="1300" dirty="0">
                <a:solidFill>
                  <a:srgbClr val="E8EEF5"/>
                </a:solidFill>
                <a:latin typeface="Courier New" pitchFamily="34" charset="0"/>
                <a:ea typeface="Courier New" pitchFamily="34" charset="-122"/>
                <a:cs typeface="Courier New" pitchFamily="34" charset="-120"/>
              </a:rPr>
              <a:t> f:</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json.load(f)</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except</a:t>
            </a:r>
            <a:r>
              <a:rPr lang="en-US" sz="1300" dirty="0">
                <a:solidFill>
                  <a:srgbClr val="E8EEF5"/>
                </a:solidFill>
                <a:latin typeface="Courier New" pitchFamily="34" charset="0"/>
                <a:ea typeface="Courier New" pitchFamily="34" charset="-122"/>
                <a:cs typeface="Courier New" pitchFamily="34" charset="-120"/>
              </a:rPr>
              <a:t> (json.JSONDecodeError, OSError):</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7FB4FF"/>
                </a:solidFill>
                <a:latin typeface="Courier New" pitchFamily="34" charset="0"/>
                <a:ea typeface="Courier New" pitchFamily="34" charset="-122"/>
                <a:cs typeface="Courier New" pitchFamily="34" charset="-120"/>
              </a:rPr>
              <a:t>print</a:t>
            </a:r>
            <a:r>
              <a:rPr lang="en-US" sz="1300" dirty="0">
                <a:solidFill>
                  <a:srgbClr val="E8EEF5"/>
                </a:solidFill>
                <a:latin typeface="Courier New" pitchFamily="34" charset="0"/>
                <a:ea typeface="Courier New" pitchFamily="34" charset="-122"/>
                <a:cs typeface="Courier New" pitchFamily="34" charset="-120"/>
              </a:rPr>
              <a:t>(</a:t>
            </a:r>
            <a:r>
              <a:rPr lang="en-US" sz="1300" dirty="0">
                <a:solidFill>
                  <a:srgbClr val="8FD694"/>
                </a:solidFill>
                <a:latin typeface="Courier New" pitchFamily="34" charset="0"/>
                <a:ea typeface="Courier New" pitchFamily="34" charset="-122"/>
                <a:cs typeface="Courier New" pitchFamily="34" charset="-120"/>
              </a:rPr>
              <a:t>"Warning: could not read contact file. Starting empty."</a:t>
            </a:r>
            <a:r>
              <a:rPr lang="en-US" sz="1300" dirty="0">
                <a:solidFill>
                  <a:srgbClr val="E8EEF5"/>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F4A259"/>
                </a:solidFill>
                <a:latin typeface="Courier New" pitchFamily="34" charset="0"/>
                <a:ea typeface="Courier New" pitchFamily="34" charset="-122"/>
                <a:cs typeface="Courier New" pitchFamily="34" charset="-120"/>
              </a:rPr>
              <a:t>def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FD166"/>
                </a:solidFill>
                <a:latin typeface="Courier New" pitchFamily="34" charset="0"/>
                <a:ea typeface="Courier New" pitchFamily="34" charset="-122"/>
                <a:cs typeface="Courier New" pitchFamily="34" charset="-120"/>
              </a:rPr>
              <a:t>save_contacts</a:t>
            </a:r>
            <a:r>
              <a:rPr lang="en-US" sz="1300" dirty="0">
                <a:solidFill>
                  <a:srgbClr val="E8EEF5"/>
                </a:solidFill>
                <a:latin typeface="Courier New" pitchFamily="34" charset="0"/>
                <a:ea typeface="Courier New" pitchFamily="34" charset="-122"/>
                <a:cs typeface="Courier New" pitchFamily="34" charset="-120"/>
              </a:rPr>
              <a:t>(contacts, path=FILE_NAME):</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try</a:t>
            </a:r>
            <a:r>
              <a:rPr lang="en-US" sz="1300" dirty="0">
                <a:solidFill>
                  <a:srgbClr val="E8EEF5"/>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with</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7FB4FF"/>
                </a:solidFill>
                <a:latin typeface="Courier New" pitchFamily="34" charset="0"/>
                <a:ea typeface="Courier New" pitchFamily="34" charset="-122"/>
                <a:cs typeface="Courier New" pitchFamily="34" charset="-120"/>
              </a:rPr>
              <a:t>open</a:t>
            </a:r>
            <a:r>
              <a:rPr lang="en-US" sz="1300" dirty="0">
                <a:solidFill>
                  <a:srgbClr val="E8EEF5"/>
                </a:solidFill>
                <a:latin typeface="Courier New" pitchFamily="34" charset="0"/>
                <a:ea typeface="Courier New" pitchFamily="34" charset="-122"/>
                <a:cs typeface="Courier New" pitchFamily="34" charset="-120"/>
              </a:rPr>
              <a:t>(path, </a:t>
            </a:r>
            <a:r>
              <a:rPr lang="en-US" sz="1300" dirty="0">
                <a:solidFill>
                  <a:srgbClr val="8FD694"/>
                </a:solidFill>
                <a:latin typeface="Courier New" pitchFamily="34" charset="0"/>
                <a:ea typeface="Courier New" pitchFamily="34" charset="-122"/>
                <a:cs typeface="Courier New" pitchFamily="34" charset="-120"/>
              </a:rPr>
              <a:t>"w"</a:t>
            </a:r>
            <a:r>
              <a:rPr lang="en-US" sz="1300" dirty="0">
                <a:solidFill>
                  <a:srgbClr val="E8EEF5"/>
                </a:solidFill>
                <a:latin typeface="Courier New" pitchFamily="34" charset="0"/>
                <a:ea typeface="Courier New" pitchFamily="34" charset="-122"/>
                <a:cs typeface="Courier New" pitchFamily="34" charset="-120"/>
              </a:rPr>
              <a:t>, encoding=</a:t>
            </a:r>
            <a:r>
              <a:rPr lang="en-US" sz="1300" dirty="0">
                <a:solidFill>
                  <a:srgbClr val="8FD694"/>
                </a:solidFill>
                <a:latin typeface="Courier New" pitchFamily="34" charset="0"/>
                <a:ea typeface="Courier New" pitchFamily="34" charset="-122"/>
                <a:cs typeface="Courier New" pitchFamily="34" charset="-120"/>
              </a:rPr>
              <a:t>"utf-8"</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as</a:t>
            </a:r>
            <a:r>
              <a:rPr lang="en-US" sz="1300" dirty="0">
                <a:solidFill>
                  <a:srgbClr val="E8EEF5"/>
                </a:solidFill>
                <a:latin typeface="Courier New" pitchFamily="34" charset="0"/>
                <a:ea typeface="Courier New" pitchFamily="34" charset="-122"/>
                <a:cs typeface="Courier New" pitchFamily="34" charset="-120"/>
              </a:rPr>
              <a:t> f:</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json.dump(contacts, f, indent=</a:t>
            </a:r>
            <a:r>
              <a:rPr lang="en-US" sz="1300" dirty="0">
                <a:solidFill>
                  <a:srgbClr val="7FB4FF"/>
                </a:solidFill>
                <a:latin typeface="Courier New" pitchFamily="34" charset="0"/>
                <a:ea typeface="Courier New" pitchFamily="34" charset="-122"/>
                <a:cs typeface="Courier New" pitchFamily="34" charset="-120"/>
              </a:rPr>
              <a:t>4</a:t>
            </a:r>
            <a:r>
              <a:rPr lang="en-US" sz="1300" dirty="0">
                <a:solidFill>
                  <a:srgbClr val="E8EEF5"/>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except</a:t>
            </a:r>
            <a:r>
              <a:rPr lang="en-US" sz="1300" dirty="0">
                <a:solidFill>
                  <a:srgbClr val="E8EEF5"/>
                </a:solidFill>
                <a:latin typeface="Courier New" pitchFamily="34" charset="0"/>
                <a:ea typeface="Courier New" pitchFamily="34" charset="-122"/>
                <a:cs typeface="Courier New" pitchFamily="34" charset="-120"/>
              </a:rPr>
              <a:t> OSError </a:t>
            </a:r>
            <a:r>
              <a:rPr lang="en-US" sz="1300" dirty="0">
                <a:solidFill>
                  <a:srgbClr val="F4A259"/>
                </a:solidFill>
                <a:latin typeface="Courier New" pitchFamily="34" charset="0"/>
                <a:ea typeface="Courier New" pitchFamily="34" charset="-122"/>
                <a:cs typeface="Courier New" pitchFamily="34" charset="-120"/>
              </a:rPr>
              <a:t>as</a:t>
            </a:r>
            <a:r>
              <a:rPr lang="en-US" sz="1300" dirty="0">
                <a:solidFill>
                  <a:srgbClr val="E8EEF5"/>
                </a:solidFill>
                <a:latin typeface="Courier New" pitchFamily="34" charset="0"/>
                <a:ea typeface="Courier New" pitchFamily="34" charset="-122"/>
                <a:cs typeface="Courier New" pitchFamily="34" charset="-120"/>
              </a:rPr>
              <a:t> err:</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7FB4FF"/>
                </a:solidFill>
                <a:latin typeface="Courier New" pitchFamily="34" charset="0"/>
                <a:ea typeface="Courier New" pitchFamily="34" charset="-122"/>
                <a:cs typeface="Courier New" pitchFamily="34" charset="-120"/>
              </a:rPr>
              <a:t>print</a:t>
            </a:r>
            <a:r>
              <a:rPr lang="en-US" sz="1300" dirty="0">
                <a:solidFill>
                  <a:srgbClr val="E8EEF5"/>
                </a:solidFill>
                <a:latin typeface="Courier New" pitchFamily="34" charset="0"/>
                <a:ea typeface="Courier New" pitchFamily="34" charset="-122"/>
                <a:cs typeface="Courier New" pitchFamily="34" charset="-120"/>
              </a:rPr>
              <a:t>(</a:t>
            </a:r>
            <a:r>
              <a:rPr lang="en-US" sz="1300" dirty="0">
                <a:solidFill>
                  <a:srgbClr val="8FD694"/>
                </a:solidFill>
                <a:latin typeface="Courier New" pitchFamily="34" charset="0"/>
                <a:ea typeface="Courier New" pitchFamily="34" charset="-122"/>
                <a:cs typeface="Courier New" pitchFamily="34" charset="-120"/>
              </a:rPr>
              <a:t>f"Error: could not save contacts ({err})."</a:t>
            </a:r>
            <a:r>
              <a:rPr lang="en-US" sz="1300" dirty="0">
                <a:solidFill>
                  <a:srgbClr val="E8EEF5"/>
                </a:solidFill>
                <a:latin typeface="Courier New" pitchFamily="34" charset="0"/>
                <a:ea typeface="Courier New" pitchFamily="34" charset="-122"/>
                <a:cs typeface="Courier New" pitchFamily="34" charset="-120"/>
              </a:rPr>
              <a:t>)</a:t>
            </a:r>
            <a:endParaRPr lang="en-US" sz="1300" dirty="0"/>
          </a:p>
        </p:txBody>
      </p:sp>
      <p:sp>
        <p:nvSpPr>
          <p:cNvPr id="9" name="Text 7"/>
          <p:cNvSpPr txBox="1"/>
          <p:nvPr/>
        </p:nvSpPr>
        <p:spPr>
          <a:xfrm>
            <a:off x="548640" y="5234432"/>
            <a:ext cx="1856232"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os.path.exists()</a:t>
            </a:r>
            <a:endParaRPr lang="en-US" sz="1100" dirty="0"/>
          </a:p>
        </p:txBody>
      </p:sp>
      <p:sp>
        <p:nvSpPr>
          <p:cNvPr id="10" name="Text 8"/>
          <p:cNvSpPr txBox="1"/>
          <p:nvPr/>
        </p:nvSpPr>
        <p:spPr>
          <a:xfrm>
            <a:off x="2542032" y="5234432"/>
            <a:ext cx="1376172"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json.load()</a:t>
            </a:r>
            <a:endParaRPr lang="en-US" sz="1100" dirty="0"/>
          </a:p>
        </p:txBody>
      </p:sp>
      <p:sp>
        <p:nvSpPr>
          <p:cNvPr id="11" name="Text 9"/>
          <p:cNvSpPr txBox="1"/>
          <p:nvPr/>
        </p:nvSpPr>
        <p:spPr>
          <a:xfrm>
            <a:off x="4055364" y="5234432"/>
            <a:ext cx="1376172"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json.dump()</a:t>
            </a:r>
            <a:endParaRPr lang="en-US" sz="1100" dirty="0"/>
          </a:p>
        </p:txBody>
      </p:sp>
      <p:sp>
        <p:nvSpPr>
          <p:cNvPr id="12" name="Text 10"/>
          <p:cNvSpPr txBox="1"/>
          <p:nvPr/>
        </p:nvSpPr>
        <p:spPr>
          <a:xfrm>
            <a:off x="5568696" y="5234432"/>
            <a:ext cx="1472184"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try / except</a:t>
            </a:r>
            <a:endParaRPr lang="en-US" sz="11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Implementation: Add &amp; Search</a:t>
            </a:r>
            <a:endParaRPr lang="en-US" sz="3000" dirty="0"/>
          </a:p>
        </p:txBody>
      </p:sp>
      <p:sp>
        <p:nvSpPr>
          <p:cNvPr id="3" name="Shape 1"/>
          <p:cNvSpPr/>
          <p:nvPr/>
        </p:nvSpPr>
        <p:spPr>
          <a:xfrm>
            <a:off x="548640" y="1188720"/>
            <a:ext cx="8046720" cy="4064254"/>
          </a:xfrm>
          <a:prstGeom prst="roundRect">
            <a:avLst>
              <a:gd name="adj" fmla="val 1800"/>
            </a:avLst>
          </a:prstGeom>
          <a:solidFill>
            <a:srgbClr val="12213A"/>
          </a:solidFill>
          <a:ln w="12700">
            <a:solidFill>
              <a:srgbClr val="12213A"/>
            </a:solidFill>
            <a:prstDash val="solid"/>
          </a:ln>
          <a:effectLst>
            <a:outerShdw blurRad="50800" dist="25400" dir="5400000" algn="bl" rotWithShape="0">
              <a:srgbClr val="000000">
                <a:alpha val="25000"/>
              </a:srgbClr>
            </a:outerShdw>
          </a:effectLst>
        </p:spPr>
      </p:sp>
      <p:sp>
        <p:nvSpPr>
          <p:cNvPr id="4" name="Shape 2"/>
          <p:cNvSpPr/>
          <p:nvPr/>
        </p:nvSpPr>
        <p:spPr>
          <a:xfrm>
            <a:off x="731520" y="1344168"/>
            <a:ext cx="118872" cy="118872"/>
          </a:xfrm>
          <a:prstGeom prst="ellipse">
            <a:avLst/>
          </a:prstGeom>
          <a:solidFill>
            <a:srgbClr val="FF5F57"/>
          </a:solidFill>
          <a:ln w="12700">
            <a:solidFill>
              <a:srgbClr val="FF5F57"/>
            </a:solidFill>
            <a:prstDash val="solid"/>
          </a:ln>
        </p:spPr>
      </p:sp>
      <p:sp>
        <p:nvSpPr>
          <p:cNvPr id="5" name="Shape 3"/>
          <p:cNvSpPr/>
          <p:nvPr/>
        </p:nvSpPr>
        <p:spPr>
          <a:xfrm>
            <a:off x="914400" y="1344168"/>
            <a:ext cx="118872" cy="118872"/>
          </a:xfrm>
          <a:prstGeom prst="ellipse">
            <a:avLst/>
          </a:prstGeom>
          <a:solidFill>
            <a:srgbClr val="FEBC2E"/>
          </a:solidFill>
          <a:ln w="12700">
            <a:solidFill>
              <a:srgbClr val="FEBC2E"/>
            </a:solidFill>
            <a:prstDash val="solid"/>
          </a:ln>
        </p:spPr>
      </p:sp>
      <p:sp>
        <p:nvSpPr>
          <p:cNvPr id="6" name="Shape 4"/>
          <p:cNvSpPr/>
          <p:nvPr/>
        </p:nvSpPr>
        <p:spPr>
          <a:xfrm>
            <a:off x="1097280" y="1344168"/>
            <a:ext cx="118872" cy="118872"/>
          </a:xfrm>
          <a:prstGeom prst="ellipse">
            <a:avLst/>
          </a:prstGeom>
          <a:solidFill>
            <a:srgbClr val="28C840"/>
          </a:solidFill>
          <a:ln w="12700">
            <a:solidFill>
              <a:srgbClr val="28C840"/>
            </a:solidFill>
            <a:prstDash val="solid"/>
          </a:ln>
        </p:spPr>
      </p:sp>
      <p:sp>
        <p:nvSpPr>
          <p:cNvPr id="7" name="Text 5"/>
          <p:cNvSpPr txBox="1"/>
          <p:nvPr/>
        </p:nvSpPr>
        <p:spPr>
          <a:xfrm>
            <a:off x="1463040" y="1280160"/>
            <a:ext cx="6949440" cy="256032"/>
          </a:xfrm>
          <a:prstGeom prst="rect">
            <a:avLst/>
          </a:prstGeom>
          <a:noFill/>
          <a:ln/>
        </p:spPr>
        <p:txBody>
          <a:bodyPr wrap="square" lIns="0" tIns="0" rIns="0" bIns="0" rtlCol="0" anchor="ctr"/>
          <a:lstStyle/>
          <a:p>
            <a:pPr marL="0" indent="0">
              <a:buNone/>
            </a:pPr>
            <a:r>
              <a:rPr lang="en-US" sz="1100" dirty="0">
                <a:solidFill>
                  <a:srgbClr val="7F93AD"/>
                </a:solidFill>
                <a:latin typeface="Courier New" pitchFamily="34" charset="0"/>
                <a:ea typeface="Courier New" pitchFamily="34" charset="-122"/>
                <a:cs typeface="Courier New" pitchFamily="34" charset="-120"/>
              </a:rPr>
              <a:t>contact_book.py</a:t>
            </a:r>
            <a:endParaRPr lang="en-US" sz="1100" dirty="0"/>
          </a:p>
        </p:txBody>
      </p:sp>
      <p:sp>
        <p:nvSpPr>
          <p:cNvPr id="8" name="Text 6"/>
          <p:cNvSpPr txBox="1"/>
          <p:nvPr/>
        </p:nvSpPr>
        <p:spPr>
          <a:xfrm>
            <a:off x="822960" y="1645920"/>
            <a:ext cx="7589520" cy="3469894"/>
          </a:xfrm>
          <a:prstGeom prst="rect">
            <a:avLst/>
          </a:prstGeom>
          <a:noFill/>
          <a:ln/>
        </p:spPr>
        <p:txBody>
          <a:bodyPr wrap="square" lIns="0" tIns="0" rIns="0" bIns="0" rtlCol="0" anchor="t"/>
          <a:lstStyle/>
          <a:p>
            <a:pPr marL="0" indent="0">
              <a:buNone/>
            </a:pPr>
            <a:r>
              <a:rPr lang="en-US" sz="1300" dirty="0">
                <a:solidFill>
                  <a:srgbClr val="F4A259"/>
                </a:solidFill>
                <a:latin typeface="Courier New" pitchFamily="34" charset="0"/>
                <a:ea typeface="Courier New" pitchFamily="34" charset="-122"/>
                <a:cs typeface="Courier New" pitchFamily="34" charset="-120"/>
              </a:rPr>
              <a:t>def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FD166"/>
                </a:solidFill>
                <a:latin typeface="Courier New" pitchFamily="34" charset="0"/>
                <a:ea typeface="Courier New" pitchFamily="34" charset="-122"/>
                <a:cs typeface="Courier New" pitchFamily="34" charset="-120"/>
              </a:rPr>
              <a:t>add_contact</a:t>
            </a:r>
            <a:r>
              <a:rPr lang="en-US" sz="1300" dirty="0">
                <a:solidFill>
                  <a:srgbClr val="E8EEF5"/>
                </a:solidFill>
                <a:latin typeface="Courier New" pitchFamily="34" charset="0"/>
                <a:ea typeface="Courier New" pitchFamily="34" charset="-122"/>
                <a:cs typeface="Courier New" pitchFamily="34" charset="-120"/>
              </a:rPr>
              <a:t>(contacts, name, phone, email=</a:t>
            </a:r>
            <a:r>
              <a:rPr lang="en-US" sz="1300" dirty="0">
                <a:solidFill>
                  <a:srgbClr val="8FD694"/>
                </a:solidFill>
                <a:latin typeface="Courier New" pitchFamily="34" charset="0"/>
                <a:ea typeface="Courier New" pitchFamily="34" charset="-122"/>
                <a:cs typeface="Courier New" pitchFamily="34" charset="-120"/>
              </a:rPr>
              <a:t>""</a:t>
            </a:r>
            <a:r>
              <a:rPr lang="en-US" sz="1300" dirty="0">
                <a:solidFill>
                  <a:srgbClr val="E8EEF5"/>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name = name.strip()</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if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not</a:t>
            </a:r>
            <a:r>
              <a:rPr lang="en-US" sz="1300" dirty="0">
                <a:solidFill>
                  <a:srgbClr val="E8EEF5"/>
                </a:solidFill>
                <a:latin typeface="Courier New" pitchFamily="34" charset="0"/>
                <a:ea typeface="Courier New" pitchFamily="34" charset="-122"/>
                <a:cs typeface="Courier New" pitchFamily="34" charset="-120"/>
              </a:rPr>
              <a:t> name:</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False</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8FD694"/>
                </a:solidFill>
                <a:latin typeface="Courier New" pitchFamily="34" charset="0"/>
                <a:ea typeface="Courier New" pitchFamily="34" charset="-122"/>
                <a:cs typeface="Courier New" pitchFamily="34" charset="-120"/>
              </a:rPr>
              <a:t>"Name cannot be empty."</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if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not</a:t>
            </a:r>
            <a:r>
              <a:rPr lang="en-US" sz="1300" dirty="0">
                <a:solidFill>
                  <a:srgbClr val="E8EEF5"/>
                </a:solidFill>
                <a:latin typeface="Courier New" pitchFamily="34" charset="0"/>
                <a:ea typeface="Courier New" pitchFamily="34" charset="-122"/>
                <a:cs typeface="Courier New" pitchFamily="34" charset="-120"/>
              </a:rPr>
              <a:t> is_valid_phone(phone):</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False</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8FD694"/>
                </a:solidFill>
                <a:latin typeface="Courier New" pitchFamily="34" charset="0"/>
                <a:ea typeface="Courier New" pitchFamily="34" charset="-122"/>
                <a:cs typeface="Courier New" pitchFamily="34" charset="-120"/>
              </a:rPr>
              <a:t>"Phone must be exactly 10 digits."</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if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not</a:t>
            </a:r>
            <a:r>
              <a:rPr lang="en-US" sz="1300" dirty="0">
                <a:solidFill>
                  <a:srgbClr val="E8EEF5"/>
                </a:solidFill>
                <a:latin typeface="Courier New" pitchFamily="34" charset="0"/>
                <a:ea typeface="Courier New" pitchFamily="34" charset="-122"/>
                <a:cs typeface="Courier New" pitchFamily="34" charset="-120"/>
              </a:rPr>
              <a:t> is_valid_email(email):</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False</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8FD694"/>
                </a:solidFill>
                <a:latin typeface="Courier New" pitchFamily="34" charset="0"/>
                <a:ea typeface="Courier New" pitchFamily="34" charset="-122"/>
                <a:cs typeface="Courier New" pitchFamily="34" charset="-120"/>
              </a:rPr>
              <a:t>"Invalid email address."</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if</a:t>
            </a:r>
            <a:r>
              <a:rPr lang="en-US" sz="1300" dirty="0">
                <a:solidFill>
                  <a:srgbClr val="E8EEF5"/>
                </a:solidFill>
                <a:latin typeface="Courier New" pitchFamily="34" charset="0"/>
                <a:ea typeface="Courier New" pitchFamily="34" charset="-122"/>
                <a:cs typeface="Courier New" pitchFamily="34" charset="-120"/>
              </a:rPr>
              <a:t> find_index(contacts, name) != -</a:t>
            </a:r>
            <a:r>
              <a:rPr lang="en-US" sz="1300" dirty="0">
                <a:solidFill>
                  <a:srgbClr val="7FB4FF"/>
                </a:solidFill>
                <a:latin typeface="Courier New" pitchFamily="34" charset="0"/>
                <a:ea typeface="Courier New" pitchFamily="34" charset="-122"/>
                <a:cs typeface="Courier New" pitchFamily="34" charset="-120"/>
              </a:rPr>
              <a:t>1</a:t>
            </a:r>
            <a:r>
              <a:rPr lang="en-US" sz="1300" dirty="0">
                <a:solidFill>
                  <a:srgbClr val="E8EEF5"/>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False</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8FD694"/>
                </a:solidFill>
                <a:latin typeface="Courier New" pitchFamily="34" charset="0"/>
                <a:ea typeface="Courier New" pitchFamily="34" charset="-122"/>
                <a:cs typeface="Courier New" pitchFamily="34" charset="-120"/>
              </a:rPr>
              <a:t>"A contact with this name already exists."</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contacts.append({</a:t>
            </a:r>
            <a:r>
              <a:rPr lang="en-US" sz="1300" dirty="0">
                <a:solidFill>
                  <a:srgbClr val="8FD694"/>
                </a:solidFill>
                <a:latin typeface="Courier New" pitchFamily="34" charset="0"/>
                <a:ea typeface="Courier New" pitchFamily="34" charset="-122"/>
                <a:cs typeface="Courier New" pitchFamily="34" charset="-120"/>
              </a:rPr>
              <a:t>"name"</a:t>
            </a:r>
            <a:r>
              <a:rPr lang="en-US" sz="1300" dirty="0">
                <a:solidFill>
                  <a:srgbClr val="E8EEF5"/>
                </a:solidFill>
                <a:latin typeface="Courier New" pitchFamily="34" charset="0"/>
                <a:ea typeface="Courier New" pitchFamily="34" charset="-122"/>
                <a:cs typeface="Courier New" pitchFamily="34" charset="-120"/>
              </a:rPr>
              <a:t>: name, </a:t>
            </a:r>
            <a:r>
              <a:rPr lang="en-US" sz="1300" dirty="0">
                <a:solidFill>
                  <a:srgbClr val="8FD694"/>
                </a:solidFill>
                <a:latin typeface="Courier New" pitchFamily="34" charset="0"/>
                <a:ea typeface="Courier New" pitchFamily="34" charset="-122"/>
                <a:cs typeface="Courier New" pitchFamily="34" charset="-120"/>
              </a:rPr>
              <a:t>"phone"</a:t>
            </a:r>
            <a:r>
              <a:rPr lang="en-US" sz="1300" dirty="0">
                <a:solidFill>
                  <a:srgbClr val="E8EEF5"/>
                </a:solidFill>
                <a:latin typeface="Courier New" pitchFamily="34" charset="0"/>
                <a:ea typeface="Courier New" pitchFamily="34" charset="-122"/>
                <a:cs typeface="Courier New" pitchFamily="34" charset="-120"/>
              </a:rPr>
              <a:t>: phone, </a:t>
            </a:r>
            <a:r>
              <a:rPr lang="en-US" sz="1300" dirty="0">
                <a:solidFill>
                  <a:srgbClr val="8FD694"/>
                </a:solidFill>
                <a:latin typeface="Courier New" pitchFamily="34" charset="0"/>
                <a:ea typeface="Courier New" pitchFamily="34" charset="-122"/>
                <a:cs typeface="Courier New" pitchFamily="34" charset="-120"/>
              </a:rPr>
              <a:t>"email"</a:t>
            </a:r>
            <a:r>
              <a:rPr lang="en-US" sz="1300" dirty="0">
                <a:solidFill>
                  <a:srgbClr val="E8EEF5"/>
                </a:solidFill>
                <a:latin typeface="Courier New" pitchFamily="34" charset="0"/>
                <a:ea typeface="Courier New" pitchFamily="34" charset="-122"/>
                <a:cs typeface="Courier New" pitchFamily="34" charset="-120"/>
              </a:rPr>
              <a:t>: email})</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True</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8FD694"/>
                </a:solidFill>
                <a:latin typeface="Courier New" pitchFamily="34" charset="0"/>
                <a:ea typeface="Courier New" pitchFamily="34" charset="-122"/>
                <a:cs typeface="Courier New" pitchFamily="34" charset="-120"/>
              </a:rPr>
              <a:t>"Contact added successfully."</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F4A259"/>
                </a:solidFill>
                <a:latin typeface="Courier New" pitchFamily="34" charset="0"/>
                <a:ea typeface="Courier New" pitchFamily="34" charset="-122"/>
                <a:cs typeface="Courier New" pitchFamily="34" charset="-120"/>
              </a:rPr>
              <a:t>def</a:t>
            </a: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FD166"/>
                </a:solidFill>
                <a:latin typeface="Courier New" pitchFamily="34" charset="0"/>
                <a:ea typeface="Courier New" pitchFamily="34" charset="-122"/>
                <a:cs typeface="Courier New" pitchFamily="34" charset="-120"/>
              </a:rPr>
              <a:t>search_contacts</a:t>
            </a:r>
            <a:r>
              <a:rPr lang="en-US" sz="1300" dirty="0">
                <a:solidFill>
                  <a:srgbClr val="E8EEF5"/>
                </a:solidFill>
                <a:latin typeface="Courier New" pitchFamily="34" charset="0"/>
                <a:ea typeface="Courier New" pitchFamily="34" charset="-122"/>
                <a:cs typeface="Courier New" pitchFamily="34" charset="-120"/>
              </a:rPr>
              <a:t>(contacts, keyword):</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keyword = keyword.lower()</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return</a:t>
            </a:r>
            <a:r>
              <a:rPr lang="en-US" sz="1300" dirty="0">
                <a:solidFill>
                  <a:srgbClr val="E8EEF5"/>
                </a:solidFill>
                <a:latin typeface="Courier New" pitchFamily="34" charset="0"/>
                <a:ea typeface="Courier New" pitchFamily="34" charset="-122"/>
                <a:cs typeface="Courier New" pitchFamily="34" charset="-120"/>
              </a:rPr>
              <a:t> [c </a:t>
            </a:r>
            <a:r>
              <a:rPr lang="en-US" sz="1300" dirty="0">
                <a:solidFill>
                  <a:srgbClr val="F4A259"/>
                </a:solidFill>
                <a:latin typeface="Courier New" pitchFamily="34" charset="0"/>
                <a:ea typeface="Courier New" pitchFamily="34" charset="-122"/>
                <a:cs typeface="Courier New" pitchFamily="34" charset="-120"/>
              </a:rPr>
              <a:t>for</a:t>
            </a:r>
            <a:r>
              <a:rPr lang="en-US" sz="1300" dirty="0">
                <a:solidFill>
                  <a:srgbClr val="E8EEF5"/>
                </a:solidFill>
                <a:latin typeface="Courier New" pitchFamily="34" charset="0"/>
                <a:ea typeface="Courier New" pitchFamily="34" charset="-122"/>
                <a:cs typeface="Courier New" pitchFamily="34" charset="-120"/>
              </a:rPr>
              <a:t> c </a:t>
            </a:r>
            <a:r>
              <a:rPr lang="en-US" sz="1300" dirty="0">
                <a:solidFill>
                  <a:srgbClr val="F4A259"/>
                </a:solidFill>
                <a:latin typeface="Courier New" pitchFamily="34" charset="0"/>
                <a:ea typeface="Courier New" pitchFamily="34" charset="-122"/>
                <a:cs typeface="Courier New" pitchFamily="34" charset="-120"/>
              </a:rPr>
              <a:t>in</a:t>
            </a:r>
            <a:r>
              <a:rPr lang="en-US" sz="1300" dirty="0">
                <a:solidFill>
                  <a:srgbClr val="E8EEF5"/>
                </a:solidFill>
                <a:latin typeface="Courier New" pitchFamily="34" charset="0"/>
                <a:ea typeface="Courier New" pitchFamily="34" charset="-122"/>
                <a:cs typeface="Courier New" pitchFamily="34" charset="-120"/>
              </a:rPr>
              <a:t> contacts</a:t>
            </a:r>
            <a:endParaRPr lang="en-US" sz="1300" dirty="0"/>
          </a:p>
          <a:p>
            <a:pPr marL="0" indent="0">
              <a:buNone/>
            </a:pPr>
            <a:r>
              <a:rPr lang="en-US" sz="1300" dirty="0">
                <a:solidFill>
                  <a:srgbClr val="E8EEF5"/>
                </a:solidFill>
                <a:latin typeface="Courier New" pitchFamily="34" charset="0"/>
                <a:ea typeface="Courier New" pitchFamily="34" charset="-122"/>
                <a:cs typeface="Courier New" pitchFamily="34" charset="-120"/>
              </a:rPr>
              <a:t>            </a:t>
            </a:r>
            <a:r>
              <a:rPr lang="en-US" sz="1300" dirty="0">
                <a:solidFill>
                  <a:srgbClr val="F4A259"/>
                </a:solidFill>
                <a:latin typeface="Courier New" pitchFamily="34" charset="0"/>
                <a:ea typeface="Courier New" pitchFamily="34" charset="-122"/>
                <a:cs typeface="Courier New" pitchFamily="34" charset="-120"/>
              </a:rPr>
              <a:t>if</a:t>
            </a:r>
            <a:r>
              <a:rPr lang="en-US" sz="1300" dirty="0">
                <a:solidFill>
                  <a:srgbClr val="E8EEF5"/>
                </a:solidFill>
                <a:latin typeface="Courier New" pitchFamily="34" charset="0"/>
                <a:ea typeface="Courier New" pitchFamily="34" charset="-122"/>
                <a:cs typeface="Courier New" pitchFamily="34" charset="-120"/>
              </a:rPr>
              <a:t> keyword </a:t>
            </a:r>
            <a:r>
              <a:rPr lang="en-US" sz="1300" dirty="0">
                <a:solidFill>
                  <a:srgbClr val="F4A259"/>
                </a:solidFill>
                <a:latin typeface="Courier New" pitchFamily="34" charset="0"/>
                <a:ea typeface="Courier New" pitchFamily="34" charset="-122"/>
                <a:cs typeface="Courier New" pitchFamily="34" charset="-120"/>
              </a:rPr>
              <a:t>in</a:t>
            </a:r>
            <a:r>
              <a:rPr lang="en-US" sz="1300" dirty="0">
                <a:solidFill>
                  <a:srgbClr val="E8EEF5"/>
                </a:solidFill>
                <a:latin typeface="Courier New" pitchFamily="34" charset="0"/>
                <a:ea typeface="Courier New" pitchFamily="34" charset="-122"/>
                <a:cs typeface="Courier New" pitchFamily="34" charset="-120"/>
              </a:rPr>
              <a:t> c[</a:t>
            </a:r>
            <a:r>
              <a:rPr lang="en-US" sz="1300" dirty="0">
                <a:solidFill>
                  <a:srgbClr val="8FD694"/>
                </a:solidFill>
                <a:latin typeface="Courier New" pitchFamily="34" charset="0"/>
                <a:ea typeface="Courier New" pitchFamily="34" charset="-122"/>
                <a:cs typeface="Courier New" pitchFamily="34" charset="-120"/>
              </a:rPr>
              <a:t>"name"</a:t>
            </a:r>
            <a:r>
              <a:rPr lang="en-US" sz="1300" dirty="0">
                <a:solidFill>
                  <a:srgbClr val="E8EEF5"/>
                </a:solidFill>
                <a:latin typeface="Courier New" pitchFamily="34" charset="0"/>
                <a:ea typeface="Courier New" pitchFamily="34" charset="-122"/>
                <a:cs typeface="Courier New" pitchFamily="34" charset="-120"/>
              </a:rPr>
              <a:t>].lower() </a:t>
            </a:r>
            <a:r>
              <a:rPr lang="en-US" sz="1300" dirty="0">
                <a:solidFill>
                  <a:srgbClr val="F4A259"/>
                </a:solidFill>
                <a:latin typeface="Courier New" pitchFamily="34" charset="0"/>
                <a:ea typeface="Courier New" pitchFamily="34" charset="-122"/>
                <a:cs typeface="Courier New" pitchFamily="34" charset="-120"/>
              </a:rPr>
              <a:t>or</a:t>
            </a:r>
            <a:r>
              <a:rPr lang="en-US" sz="1300" dirty="0">
                <a:solidFill>
                  <a:srgbClr val="E8EEF5"/>
                </a:solidFill>
                <a:latin typeface="Courier New" pitchFamily="34" charset="0"/>
                <a:ea typeface="Courier New" pitchFamily="34" charset="-122"/>
                <a:cs typeface="Courier New" pitchFamily="34" charset="-120"/>
              </a:rPr>
              <a:t> keyword </a:t>
            </a:r>
            <a:r>
              <a:rPr lang="en-US" sz="1300" dirty="0">
                <a:solidFill>
                  <a:srgbClr val="F4A259"/>
                </a:solidFill>
                <a:latin typeface="Courier New" pitchFamily="34" charset="0"/>
                <a:ea typeface="Courier New" pitchFamily="34" charset="-122"/>
                <a:cs typeface="Courier New" pitchFamily="34" charset="-120"/>
              </a:rPr>
              <a:t>in</a:t>
            </a:r>
            <a:r>
              <a:rPr lang="en-US" sz="1300" dirty="0">
                <a:solidFill>
                  <a:srgbClr val="E8EEF5"/>
                </a:solidFill>
                <a:latin typeface="Courier New" pitchFamily="34" charset="0"/>
                <a:ea typeface="Courier New" pitchFamily="34" charset="-122"/>
                <a:cs typeface="Courier New" pitchFamily="34" charset="-120"/>
              </a:rPr>
              <a:t> c[</a:t>
            </a:r>
            <a:r>
              <a:rPr lang="en-US" sz="1300" dirty="0">
                <a:solidFill>
                  <a:srgbClr val="8FD694"/>
                </a:solidFill>
                <a:latin typeface="Courier New" pitchFamily="34" charset="0"/>
                <a:ea typeface="Courier New" pitchFamily="34" charset="-122"/>
                <a:cs typeface="Courier New" pitchFamily="34" charset="-120"/>
              </a:rPr>
              <a:t>"phone"</a:t>
            </a:r>
            <a:r>
              <a:rPr lang="en-US" sz="1300" dirty="0">
                <a:solidFill>
                  <a:srgbClr val="E8EEF5"/>
                </a:solidFill>
                <a:latin typeface="Courier New" pitchFamily="34" charset="0"/>
                <a:ea typeface="Courier New" pitchFamily="34" charset="-122"/>
                <a:cs typeface="Courier New" pitchFamily="34" charset="-120"/>
              </a:rPr>
              <a:t>]]</a:t>
            </a:r>
            <a:endParaRPr lang="en-US" sz="1300" dirty="0"/>
          </a:p>
        </p:txBody>
      </p:sp>
      <p:sp>
        <p:nvSpPr>
          <p:cNvPr id="9" name="Text 7"/>
          <p:cNvSpPr txBox="1"/>
          <p:nvPr/>
        </p:nvSpPr>
        <p:spPr>
          <a:xfrm>
            <a:off x="548640" y="5435854"/>
            <a:ext cx="1280160"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validation</a:t>
            </a:r>
            <a:endParaRPr lang="en-US" sz="1100" dirty="0"/>
          </a:p>
        </p:txBody>
      </p:sp>
      <p:sp>
        <p:nvSpPr>
          <p:cNvPr id="10" name="Text 8"/>
          <p:cNvSpPr txBox="1"/>
          <p:nvPr/>
        </p:nvSpPr>
        <p:spPr>
          <a:xfrm>
            <a:off x="1965960" y="5435854"/>
            <a:ext cx="1760220"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duplicate check</a:t>
            </a:r>
            <a:endParaRPr lang="en-US" sz="1100" dirty="0"/>
          </a:p>
        </p:txBody>
      </p:sp>
      <p:sp>
        <p:nvSpPr>
          <p:cNvPr id="11" name="Text 9"/>
          <p:cNvSpPr txBox="1"/>
          <p:nvPr/>
        </p:nvSpPr>
        <p:spPr>
          <a:xfrm>
            <a:off x="3863340" y="5435854"/>
            <a:ext cx="2048256"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list comprehension</a:t>
            </a:r>
            <a:endParaRPr lang="en-US" sz="1100" dirty="0"/>
          </a:p>
        </p:txBody>
      </p:sp>
      <p:sp>
        <p:nvSpPr>
          <p:cNvPr id="12" name="Text 10"/>
          <p:cNvSpPr txBox="1"/>
          <p:nvPr/>
        </p:nvSpPr>
        <p:spPr>
          <a:xfrm>
            <a:off x="6048756" y="5435854"/>
            <a:ext cx="1472184"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tuple return</a:t>
            </a:r>
            <a:endParaRPr lang="en-US" sz="11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Implementation: Edit &amp; Delete</a:t>
            </a:r>
            <a:endParaRPr lang="en-US" sz="3000" dirty="0"/>
          </a:p>
        </p:txBody>
      </p:sp>
      <p:sp>
        <p:nvSpPr>
          <p:cNvPr id="3" name="Shape 1"/>
          <p:cNvSpPr/>
          <p:nvPr/>
        </p:nvSpPr>
        <p:spPr>
          <a:xfrm>
            <a:off x="548640" y="1188720"/>
            <a:ext cx="8046720" cy="4358640"/>
          </a:xfrm>
          <a:prstGeom prst="roundRect">
            <a:avLst>
              <a:gd name="adj" fmla="val 1678"/>
            </a:avLst>
          </a:prstGeom>
          <a:solidFill>
            <a:srgbClr val="12213A"/>
          </a:solidFill>
          <a:ln w="12700">
            <a:solidFill>
              <a:srgbClr val="12213A"/>
            </a:solidFill>
            <a:prstDash val="solid"/>
          </a:ln>
          <a:effectLst>
            <a:outerShdw blurRad="50800" dist="25400" dir="5400000" algn="bl" rotWithShape="0">
              <a:srgbClr val="000000">
                <a:alpha val="25000"/>
              </a:srgbClr>
            </a:outerShdw>
          </a:effectLst>
        </p:spPr>
      </p:sp>
      <p:sp>
        <p:nvSpPr>
          <p:cNvPr id="4" name="Shape 2"/>
          <p:cNvSpPr/>
          <p:nvPr/>
        </p:nvSpPr>
        <p:spPr>
          <a:xfrm>
            <a:off x="731520" y="1344168"/>
            <a:ext cx="118872" cy="118872"/>
          </a:xfrm>
          <a:prstGeom prst="ellipse">
            <a:avLst/>
          </a:prstGeom>
          <a:solidFill>
            <a:srgbClr val="FF5F57"/>
          </a:solidFill>
          <a:ln w="12700">
            <a:solidFill>
              <a:srgbClr val="FF5F57"/>
            </a:solidFill>
            <a:prstDash val="solid"/>
          </a:ln>
        </p:spPr>
      </p:sp>
      <p:sp>
        <p:nvSpPr>
          <p:cNvPr id="5" name="Shape 3"/>
          <p:cNvSpPr/>
          <p:nvPr/>
        </p:nvSpPr>
        <p:spPr>
          <a:xfrm>
            <a:off x="914400" y="1344168"/>
            <a:ext cx="118872" cy="118872"/>
          </a:xfrm>
          <a:prstGeom prst="ellipse">
            <a:avLst/>
          </a:prstGeom>
          <a:solidFill>
            <a:srgbClr val="FEBC2E"/>
          </a:solidFill>
          <a:ln w="12700">
            <a:solidFill>
              <a:srgbClr val="FEBC2E"/>
            </a:solidFill>
            <a:prstDash val="solid"/>
          </a:ln>
        </p:spPr>
      </p:sp>
      <p:sp>
        <p:nvSpPr>
          <p:cNvPr id="6" name="Shape 4"/>
          <p:cNvSpPr/>
          <p:nvPr/>
        </p:nvSpPr>
        <p:spPr>
          <a:xfrm>
            <a:off x="1097280" y="1344168"/>
            <a:ext cx="118872" cy="118872"/>
          </a:xfrm>
          <a:prstGeom prst="ellipse">
            <a:avLst/>
          </a:prstGeom>
          <a:solidFill>
            <a:srgbClr val="28C840"/>
          </a:solidFill>
          <a:ln w="12700">
            <a:solidFill>
              <a:srgbClr val="28C840"/>
            </a:solidFill>
            <a:prstDash val="solid"/>
          </a:ln>
        </p:spPr>
      </p:sp>
      <p:sp>
        <p:nvSpPr>
          <p:cNvPr id="7" name="Text 5"/>
          <p:cNvSpPr txBox="1"/>
          <p:nvPr/>
        </p:nvSpPr>
        <p:spPr>
          <a:xfrm>
            <a:off x="1463040" y="1280160"/>
            <a:ext cx="6949440" cy="256032"/>
          </a:xfrm>
          <a:prstGeom prst="rect">
            <a:avLst/>
          </a:prstGeom>
          <a:noFill/>
          <a:ln/>
        </p:spPr>
        <p:txBody>
          <a:bodyPr wrap="square" lIns="0" tIns="0" rIns="0" bIns="0" rtlCol="0" anchor="ctr"/>
          <a:lstStyle/>
          <a:p>
            <a:pPr marL="0" indent="0">
              <a:buNone/>
            </a:pPr>
            <a:r>
              <a:rPr lang="en-US" sz="1100" dirty="0">
                <a:solidFill>
                  <a:srgbClr val="7F93AD"/>
                </a:solidFill>
                <a:latin typeface="Courier New" pitchFamily="34" charset="0"/>
                <a:ea typeface="Courier New" pitchFamily="34" charset="-122"/>
                <a:cs typeface="Courier New" pitchFamily="34" charset="-120"/>
              </a:rPr>
              <a:t>contact_book.py</a:t>
            </a:r>
            <a:endParaRPr lang="en-US" sz="1100" dirty="0"/>
          </a:p>
        </p:txBody>
      </p:sp>
      <p:sp>
        <p:nvSpPr>
          <p:cNvPr id="8" name="Text 6"/>
          <p:cNvSpPr txBox="1"/>
          <p:nvPr/>
        </p:nvSpPr>
        <p:spPr>
          <a:xfrm>
            <a:off x="822960" y="1645920"/>
            <a:ext cx="7589520" cy="3764280"/>
          </a:xfrm>
          <a:prstGeom prst="rect">
            <a:avLst/>
          </a:prstGeom>
          <a:noFill/>
          <a:ln/>
        </p:spPr>
        <p:txBody>
          <a:bodyPr wrap="square" lIns="0" tIns="0" rIns="0" bIns="0" rtlCol="0" anchor="t"/>
          <a:lstStyle/>
          <a:p>
            <a:pPr marL="0" indent="0">
              <a:buNone/>
            </a:pPr>
            <a:r>
              <a:rPr lang="en-US" sz="1200" dirty="0">
                <a:solidFill>
                  <a:srgbClr val="F4A259"/>
                </a:solidFill>
                <a:latin typeface="Courier New" pitchFamily="34" charset="0"/>
                <a:ea typeface="Courier New" pitchFamily="34" charset="-122"/>
                <a:cs typeface="Courier New" pitchFamily="34" charset="-120"/>
              </a:rPr>
              <a:t>def</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FD166"/>
                </a:solidFill>
                <a:latin typeface="Courier New" pitchFamily="34" charset="0"/>
                <a:ea typeface="Courier New" pitchFamily="34" charset="-122"/>
                <a:cs typeface="Courier New" pitchFamily="34" charset="-120"/>
              </a:rPr>
              <a:t>edit_contact</a:t>
            </a:r>
            <a:r>
              <a:rPr lang="en-US" sz="1200" dirty="0">
                <a:solidFill>
                  <a:srgbClr val="E8EEF5"/>
                </a:solidFill>
                <a:latin typeface="Courier New" pitchFamily="34" charset="0"/>
                <a:ea typeface="Courier New" pitchFamily="34" charset="-122"/>
                <a:cs typeface="Courier New" pitchFamily="34" charset="-120"/>
              </a:rPr>
              <a:t>(contacts, name, new_phone=</a:t>
            </a:r>
            <a:r>
              <a:rPr lang="en-US" sz="1200" dirty="0">
                <a:solidFill>
                  <a:srgbClr val="F4A259"/>
                </a:solidFill>
                <a:latin typeface="Courier New" pitchFamily="34" charset="0"/>
                <a:ea typeface="Courier New" pitchFamily="34" charset="-122"/>
                <a:cs typeface="Courier New" pitchFamily="34" charset="-120"/>
              </a:rPr>
              <a:t>None</a:t>
            </a:r>
            <a:r>
              <a:rPr lang="en-US" sz="1200" dirty="0">
                <a:solidFill>
                  <a:srgbClr val="E8EEF5"/>
                </a:solidFill>
                <a:latin typeface="Courier New" pitchFamily="34" charset="0"/>
                <a:ea typeface="Courier New" pitchFamily="34" charset="-122"/>
                <a:cs typeface="Courier New" pitchFamily="34" charset="-120"/>
              </a:rPr>
              <a:t>, new_email=</a:t>
            </a:r>
            <a:r>
              <a:rPr lang="en-US" sz="1200" dirty="0">
                <a:solidFill>
                  <a:srgbClr val="F4A259"/>
                </a:solidFill>
                <a:latin typeface="Courier New" pitchFamily="34" charset="0"/>
                <a:ea typeface="Courier New" pitchFamily="34" charset="-122"/>
                <a:cs typeface="Courier New" pitchFamily="34" charset="-120"/>
              </a:rPr>
              <a:t>None</a:t>
            </a:r>
            <a:r>
              <a:rPr lang="en-US" sz="1200" dirty="0">
                <a:solidFill>
                  <a:srgbClr val="E8EEF5"/>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i = find_index(contacts, name)</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if</a:t>
            </a:r>
            <a:r>
              <a:rPr lang="en-US" sz="1200" dirty="0">
                <a:solidFill>
                  <a:srgbClr val="E8EEF5"/>
                </a:solidFill>
                <a:latin typeface="Courier New" pitchFamily="34" charset="0"/>
                <a:ea typeface="Courier New" pitchFamily="34" charset="-122"/>
                <a:cs typeface="Courier New" pitchFamily="34" charset="-120"/>
              </a:rPr>
              <a:t> i == -</a:t>
            </a:r>
            <a:r>
              <a:rPr lang="en-US" sz="1200" dirty="0">
                <a:solidFill>
                  <a:srgbClr val="7FB4FF"/>
                </a:solidFill>
                <a:latin typeface="Courier New" pitchFamily="34" charset="0"/>
                <a:ea typeface="Courier New" pitchFamily="34" charset="-122"/>
                <a:cs typeface="Courier New" pitchFamily="34" charset="-120"/>
              </a:rPr>
              <a:t>1</a:t>
            </a:r>
            <a:r>
              <a:rPr lang="en-US" sz="1200" dirty="0">
                <a:solidFill>
                  <a:srgbClr val="E8EEF5"/>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return</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False</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8FD694"/>
                </a:solidFill>
                <a:latin typeface="Courier New" pitchFamily="34" charset="0"/>
                <a:ea typeface="Courier New" pitchFamily="34" charset="-122"/>
                <a:cs typeface="Courier New" pitchFamily="34" charset="-120"/>
              </a:rPr>
              <a:t>"Contact not found."</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if</a:t>
            </a:r>
            <a:r>
              <a:rPr lang="en-US" sz="1200" dirty="0">
                <a:solidFill>
                  <a:srgbClr val="E8EEF5"/>
                </a:solidFill>
                <a:latin typeface="Courier New" pitchFamily="34" charset="0"/>
                <a:ea typeface="Courier New" pitchFamily="34" charset="-122"/>
                <a:cs typeface="Courier New" pitchFamily="34" charset="-120"/>
              </a:rPr>
              <a:t> new_phone:</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if</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not</a:t>
            </a:r>
            <a:r>
              <a:rPr lang="en-US" sz="1200" dirty="0">
                <a:solidFill>
                  <a:srgbClr val="E8EEF5"/>
                </a:solidFill>
                <a:latin typeface="Courier New" pitchFamily="34" charset="0"/>
                <a:ea typeface="Courier New" pitchFamily="34" charset="-122"/>
                <a:cs typeface="Courier New" pitchFamily="34" charset="-120"/>
              </a:rPr>
              <a:t> is_valid_phone(new_phone):</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return</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False</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8FD694"/>
                </a:solidFill>
                <a:latin typeface="Courier New" pitchFamily="34" charset="0"/>
                <a:ea typeface="Courier New" pitchFamily="34" charset="-122"/>
                <a:cs typeface="Courier New" pitchFamily="34" charset="-120"/>
              </a:rPr>
              <a:t>"Phone must be exactly 10 digits."</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contacts[i][</a:t>
            </a:r>
            <a:r>
              <a:rPr lang="en-US" sz="1200" dirty="0">
                <a:solidFill>
                  <a:srgbClr val="8FD694"/>
                </a:solidFill>
                <a:latin typeface="Courier New" pitchFamily="34" charset="0"/>
                <a:ea typeface="Courier New" pitchFamily="34" charset="-122"/>
                <a:cs typeface="Courier New" pitchFamily="34" charset="-120"/>
              </a:rPr>
              <a:t>"phone"</a:t>
            </a:r>
            <a:r>
              <a:rPr lang="en-US" sz="1200" dirty="0">
                <a:solidFill>
                  <a:srgbClr val="E8EEF5"/>
                </a:solidFill>
                <a:latin typeface="Courier New" pitchFamily="34" charset="0"/>
                <a:ea typeface="Courier New" pitchFamily="34" charset="-122"/>
                <a:cs typeface="Courier New" pitchFamily="34" charset="-120"/>
              </a:rPr>
              <a:t>] = new_phone</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if</a:t>
            </a:r>
            <a:r>
              <a:rPr lang="en-US" sz="1200" dirty="0">
                <a:solidFill>
                  <a:srgbClr val="E8EEF5"/>
                </a:solidFill>
                <a:latin typeface="Courier New" pitchFamily="34" charset="0"/>
                <a:ea typeface="Courier New" pitchFamily="34" charset="-122"/>
                <a:cs typeface="Courier New" pitchFamily="34" charset="-120"/>
              </a:rPr>
              <a:t> new_email </a:t>
            </a:r>
            <a:r>
              <a:rPr lang="en-US" sz="1200" dirty="0">
                <a:solidFill>
                  <a:srgbClr val="F4A259"/>
                </a:solidFill>
                <a:latin typeface="Courier New" pitchFamily="34" charset="0"/>
                <a:ea typeface="Courier New" pitchFamily="34" charset="-122"/>
                <a:cs typeface="Courier New" pitchFamily="34" charset="-120"/>
              </a:rPr>
              <a:t>is</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not</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None</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and</a:t>
            </a:r>
            <a:r>
              <a:rPr lang="en-US" sz="1200" dirty="0">
                <a:solidFill>
                  <a:srgbClr val="E8EEF5"/>
                </a:solidFill>
                <a:latin typeface="Courier New" pitchFamily="34" charset="0"/>
                <a:ea typeface="Courier New" pitchFamily="34" charset="-122"/>
                <a:cs typeface="Courier New" pitchFamily="34" charset="-120"/>
              </a:rPr>
              <a:t> new_email != </a:t>
            </a:r>
            <a:r>
              <a:rPr lang="en-US" sz="1200" dirty="0">
                <a:solidFill>
                  <a:srgbClr val="8FD694"/>
                </a:solidFill>
                <a:latin typeface="Courier New" pitchFamily="34" charset="0"/>
                <a:ea typeface="Courier New" pitchFamily="34" charset="-122"/>
                <a:cs typeface="Courier New" pitchFamily="34" charset="-120"/>
              </a:rPr>
              <a:t>""</a:t>
            </a:r>
            <a:r>
              <a:rPr lang="en-US" sz="1200" dirty="0">
                <a:solidFill>
                  <a:srgbClr val="E8EEF5"/>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if</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not</a:t>
            </a:r>
            <a:r>
              <a:rPr lang="en-US" sz="1200" dirty="0">
                <a:solidFill>
                  <a:srgbClr val="E8EEF5"/>
                </a:solidFill>
                <a:latin typeface="Courier New" pitchFamily="34" charset="0"/>
                <a:ea typeface="Courier New" pitchFamily="34" charset="-122"/>
                <a:cs typeface="Courier New" pitchFamily="34" charset="-120"/>
              </a:rPr>
              <a:t> is_valid_email(new_email):</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return</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False</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8FD694"/>
                </a:solidFill>
                <a:latin typeface="Courier New" pitchFamily="34" charset="0"/>
                <a:ea typeface="Courier New" pitchFamily="34" charset="-122"/>
                <a:cs typeface="Courier New" pitchFamily="34" charset="-120"/>
              </a:rPr>
              <a:t>"Invalid email address."</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contacts[i][</a:t>
            </a:r>
            <a:r>
              <a:rPr lang="en-US" sz="1200" dirty="0">
                <a:solidFill>
                  <a:srgbClr val="8FD694"/>
                </a:solidFill>
                <a:latin typeface="Courier New" pitchFamily="34" charset="0"/>
                <a:ea typeface="Courier New" pitchFamily="34" charset="-122"/>
                <a:cs typeface="Courier New" pitchFamily="34" charset="-120"/>
              </a:rPr>
              <a:t>"email"</a:t>
            </a:r>
            <a:r>
              <a:rPr lang="en-US" sz="1200" dirty="0">
                <a:solidFill>
                  <a:srgbClr val="E8EEF5"/>
                </a:solidFill>
                <a:latin typeface="Courier New" pitchFamily="34" charset="0"/>
                <a:ea typeface="Courier New" pitchFamily="34" charset="-122"/>
                <a:cs typeface="Courier New" pitchFamily="34" charset="-120"/>
              </a:rPr>
              <a:t>] = new_email</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return</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True</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8FD694"/>
                </a:solidFill>
                <a:latin typeface="Courier New" pitchFamily="34" charset="0"/>
                <a:ea typeface="Courier New" pitchFamily="34" charset="-122"/>
                <a:cs typeface="Courier New" pitchFamily="34" charset="-120"/>
              </a:rPr>
              <a:t>"Contact updated successfully."</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F4A259"/>
                </a:solidFill>
                <a:latin typeface="Courier New" pitchFamily="34" charset="0"/>
                <a:ea typeface="Courier New" pitchFamily="34" charset="-122"/>
                <a:cs typeface="Courier New" pitchFamily="34" charset="-120"/>
              </a:rPr>
              <a:t>def</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FD166"/>
                </a:solidFill>
                <a:latin typeface="Courier New" pitchFamily="34" charset="0"/>
                <a:ea typeface="Courier New" pitchFamily="34" charset="-122"/>
                <a:cs typeface="Courier New" pitchFamily="34" charset="-120"/>
              </a:rPr>
              <a:t>delete_contact</a:t>
            </a:r>
            <a:r>
              <a:rPr lang="en-US" sz="1200" dirty="0">
                <a:solidFill>
                  <a:srgbClr val="E8EEF5"/>
                </a:solidFill>
                <a:latin typeface="Courier New" pitchFamily="34" charset="0"/>
                <a:ea typeface="Courier New" pitchFamily="34" charset="-122"/>
                <a:cs typeface="Courier New" pitchFamily="34" charset="-120"/>
              </a:rPr>
              <a:t>(contacts, name):</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i = find_index(contacts, name)</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if</a:t>
            </a:r>
            <a:r>
              <a:rPr lang="en-US" sz="1200" dirty="0">
                <a:solidFill>
                  <a:srgbClr val="E8EEF5"/>
                </a:solidFill>
                <a:latin typeface="Courier New" pitchFamily="34" charset="0"/>
                <a:ea typeface="Courier New" pitchFamily="34" charset="-122"/>
                <a:cs typeface="Courier New" pitchFamily="34" charset="-120"/>
              </a:rPr>
              <a:t> i == -</a:t>
            </a:r>
            <a:r>
              <a:rPr lang="en-US" sz="1200" dirty="0">
                <a:solidFill>
                  <a:srgbClr val="7FB4FF"/>
                </a:solidFill>
                <a:latin typeface="Courier New" pitchFamily="34" charset="0"/>
                <a:ea typeface="Courier New" pitchFamily="34" charset="-122"/>
                <a:cs typeface="Courier New" pitchFamily="34" charset="-120"/>
              </a:rPr>
              <a:t>1</a:t>
            </a:r>
            <a:r>
              <a:rPr lang="en-US" sz="1200" dirty="0">
                <a:solidFill>
                  <a:srgbClr val="E8EEF5"/>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return</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False</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8FD694"/>
                </a:solidFill>
                <a:latin typeface="Courier New" pitchFamily="34" charset="0"/>
                <a:ea typeface="Courier New" pitchFamily="34" charset="-122"/>
                <a:cs typeface="Courier New" pitchFamily="34" charset="-120"/>
              </a:rPr>
              <a:t>"Contact not found."</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contacts.pop(i)</a:t>
            </a:r>
            <a:endParaRPr lang="en-US" sz="1200" dirty="0"/>
          </a:p>
          <a:p>
            <a:pPr marL="0" indent="0">
              <a:buNone/>
            </a:pP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return</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F4A259"/>
                </a:solidFill>
                <a:latin typeface="Courier New" pitchFamily="34" charset="0"/>
                <a:ea typeface="Courier New" pitchFamily="34" charset="-122"/>
                <a:cs typeface="Courier New" pitchFamily="34" charset="-120"/>
              </a:rPr>
              <a:t>True</a:t>
            </a:r>
            <a:r>
              <a:rPr lang="en-US" sz="1200" dirty="0">
                <a:solidFill>
                  <a:srgbClr val="E8EEF5"/>
                </a:solidFill>
                <a:latin typeface="Courier New" pitchFamily="34" charset="0"/>
                <a:ea typeface="Courier New" pitchFamily="34" charset="-122"/>
                <a:cs typeface="Courier New" pitchFamily="34" charset="-120"/>
              </a:rPr>
              <a:t>, </a:t>
            </a:r>
            <a:r>
              <a:rPr lang="en-US" sz="1200" dirty="0">
                <a:solidFill>
                  <a:srgbClr val="8FD694"/>
                </a:solidFill>
                <a:latin typeface="Courier New" pitchFamily="34" charset="0"/>
                <a:ea typeface="Courier New" pitchFamily="34" charset="-122"/>
                <a:cs typeface="Courier New" pitchFamily="34" charset="-120"/>
              </a:rPr>
              <a:t>"Contact deleted successfully."</a:t>
            </a:r>
            <a:endParaRPr lang="en-US" sz="1200" dirty="0"/>
          </a:p>
        </p:txBody>
      </p:sp>
      <p:sp>
        <p:nvSpPr>
          <p:cNvPr id="9" name="Text 7"/>
          <p:cNvSpPr txBox="1"/>
          <p:nvPr/>
        </p:nvSpPr>
        <p:spPr>
          <a:xfrm>
            <a:off x="548640" y="5730240"/>
            <a:ext cx="1472184"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find_index()</a:t>
            </a:r>
            <a:endParaRPr lang="en-US" sz="1100" dirty="0"/>
          </a:p>
        </p:txBody>
      </p:sp>
      <p:sp>
        <p:nvSpPr>
          <p:cNvPr id="10" name="Text 8"/>
          <p:cNvSpPr txBox="1"/>
          <p:nvPr/>
        </p:nvSpPr>
        <p:spPr>
          <a:xfrm>
            <a:off x="2157984" y="5730240"/>
            <a:ext cx="1280160"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list.pop()</a:t>
            </a:r>
            <a:endParaRPr lang="en-US" sz="1100" dirty="0"/>
          </a:p>
        </p:txBody>
      </p:sp>
      <p:sp>
        <p:nvSpPr>
          <p:cNvPr id="11" name="Text 9"/>
          <p:cNvSpPr txBox="1"/>
          <p:nvPr/>
        </p:nvSpPr>
        <p:spPr>
          <a:xfrm>
            <a:off x="3575304" y="5730240"/>
            <a:ext cx="2048256" cy="329184"/>
          </a:xfrm>
          <a:prstGeom prst="roundRect">
            <a:avLst>
              <a:gd name="adj" fmla="val 27778"/>
            </a:avLst>
          </a:prstGeom>
          <a:solidFill>
            <a:srgbClr val="EAF0F1"/>
          </a:solidFill>
          <a:ln w="12700">
            <a:solidFill>
              <a:srgbClr val="EAF0F1"/>
            </a:solidFill>
          </a:ln>
        </p:spPr>
        <p:txBody>
          <a:bodyPr wrap="square" lIns="381" tIns="381" rIns="381" bIns="381" rtlCol="0" anchor="ctr"/>
          <a:lstStyle/>
          <a:p>
            <a:pPr marL="0" indent="0" algn="ctr">
              <a:buNone/>
            </a:pPr>
            <a:r>
              <a:rPr lang="en-US" sz="1100" b="1" dirty="0">
                <a:solidFill>
                  <a:srgbClr val="1B365D"/>
                </a:solidFill>
                <a:latin typeface="Courier New" pitchFamily="34" charset="0"/>
                <a:ea typeface="Courier New" pitchFamily="34" charset="-122"/>
                <a:cs typeface="Courier New" pitchFamily="34" charset="-120"/>
              </a:rPr>
              <a:t>optional arguments</a:t>
            </a:r>
            <a:endParaRPr lang="en-US" sz="11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Validation &amp; Exception Handling</a:t>
            </a:r>
            <a:endParaRPr lang="en-US" sz="3000" dirty="0"/>
          </a:p>
        </p:txBody>
      </p:sp>
      <p:sp>
        <p:nvSpPr>
          <p:cNvPr id="3" name="Shape 1"/>
          <p:cNvSpPr/>
          <p:nvPr/>
        </p:nvSpPr>
        <p:spPr>
          <a:xfrm>
            <a:off x="548640" y="1234440"/>
            <a:ext cx="2532888" cy="2331720"/>
          </a:xfrm>
          <a:prstGeom prst="roundRect">
            <a:avLst>
              <a:gd name="adj" fmla="val 3137"/>
            </a:avLst>
          </a:prstGeom>
          <a:solidFill>
            <a:srgbClr val="EAF0F1"/>
          </a:solidFill>
          <a:ln w="12700">
            <a:solidFill>
              <a:srgbClr val="EAF0F1"/>
            </a:solidFill>
            <a:prstDash val="solid"/>
          </a:ln>
        </p:spPr>
      </p:sp>
      <p:sp>
        <p:nvSpPr>
          <p:cNvPr id="4" name="Text 2"/>
          <p:cNvSpPr txBox="1"/>
          <p:nvPr/>
        </p:nvSpPr>
        <p:spPr>
          <a:xfrm>
            <a:off x="731520" y="1371600"/>
            <a:ext cx="310896" cy="310896"/>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 name="Text 3"/>
          <p:cNvSpPr txBox="1"/>
          <p:nvPr/>
        </p:nvSpPr>
        <p:spPr>
          <a:xfrm>
            <a:off x="1133856" y="1371600"/>
            <a:ext cx="1828800" cy="347472"/>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Phone number</a:t>
            </a:r>
            <a:endParaRPr lang="en-US" sz="1400" dirty="0"/>
          </a:p>
        </p:txBody>
      </p:sp>
      <p:sp>
        <p:nvSpPr>
          <p:cNvPr id="6" name="Text 4"/>
          <p:cNvSpPr txBox="1"/>
          <p:nvPr/>
        </p:nvSpPr>
        <p:spPr>
          <a:xfrm>
            <a:off x="713232" y="1828800"/>
            <a:ext cx="2203704" cy="731520"/>
          </a:xfrm>
          <a:prstGeom prst="rect">
            <a:avLst/>
          </a:prstGeom>
          <a:noFill/>
          <a:ln/>
        </p:spPr>
        <p:txBody>
          <a:bodyPr wrap="square" lIns="0" tIns="0" rIns="0" bIns="0" rtlCol="0" anchor="t"/>
          <a:lstStyle/>
          <a:p>
            <a:pPr marL="0" indent="0">
              <a:buNone/>
            </a:pPr>
            <a:r>
              <a:rPr lang="en-US" sz="1150" dirty="0">
                <a:solidFill>
                  <a:srgbClr val="1F2937"/>
                </a:solidFill>
                <a:latin typeface="Arial" pitchFamily="34" charset="0"/>
                <a:ea typeface="Arial" pitchFamily="34" charset="-122"/>
                <a:cs typeface="Arial" pitchFamily="34" charset="-120"/>
              </a:rPr>
              <a:t>is_valid_phone() accepts exactly 10 digits.</a:t>
            </a:r>
            <a:endParaRPr lang="en-US" sz="1150" dirty="0"/>
          </a:p>
        </p:txBody>
      </p:sp>
      <p:sp>
        <p:nvSpPr>
          <p:cNvPr id="7" name="Text 5"/>
          <p:cNvSpPr txBox="1"/>
          <p:nvPr/>
        </p:nvSpPr>
        <p:spPr>
          <a:xfrm>
            <a:off x="658368" y="2606040"/>
            <a:ext cx="2313432" cy="822960"/>
          </a:xfrm>
          <a:prstGeom prst="roundRect">
            <a:avLst>
              <a:gd name="adj" fmla="val 6667"/>
            </a:avLst>
          </a:prstGeom>
          <a:solidFill>
            <a:srgbClr val="12213A"/>
          </a:solidFill>
          <a:ln/>
        </p:spPr>
        <p:txBody>
          <a:bodyPr wrap="square" lIns="101600" tIns="101600" rIns="101600" bIns="101600" rtlCol="0" anchor="ctr"/>
          <a:lstStyle/>
          <a:p>
            <a:pPr marL="0" indent="0">
              <a:buNone/>
            </a:pPr>
            <a:r>
              <a:rPr lang="en-US" sz="1050" dirty="0">
                <a:solidFill>
                  <a:srgbClr val="E8EEF5"/>
                </a:solidFill>
                <a:latin typeface="Courier New" pitchFamily="34" charset="0"/>
                <a:ea typeface="Courier New" pitchFamily="34" charset="-122"/>
                <a:cs typeface="Courier New" pitchFamily="34" charset="-120"/>
              </a:rPr>
              <a:t>Input:  "12345"</a:t>
            </a:r>
            <a:endParaRPr lang="en-US" sz="1050" dirty="0"/>
          </a:p>
          <a:p>
            <a:pPr marL="0" indent="0">
              <a:buNone/>
            </a:pPr>
            <a:r>
              <a:rPr lang="en-US" sz="1050" dirty="0">
                <a:solidFill>
                  <a:srgbClr val="8FD694"/>
                </a:solidFill>
                <a:latin typeface="Courier New" pitchFamily="34" charset="0"/>
                <a:ea typeface="Courier New" pitchFamily="34" charset="-122"/>
                <a:cs typeface="Courier New" pitchFamily="34" charset="-120"/>
              </a:rPr>
              <a:t>Phone must be exactly 10 digits.</a:t>
            </a:r>
            <a:endParaRPr lang="en-US" sz="1050" dirty="0"/>
          </a:p>
        </p:txBody>
      </p:sp>
      <p:sp>
        <p:nvSpPr>
          <p:cNvPr id="8" name="Shape 6"/>
          <p:cNvSpPr/>
          <p:nvPr/>
        </p:nvSpPr>
        <p:spPr>
          <a:xfrm>
            <a:off x="3310128" y="1234440"/>
            <a:ext cx="2532888" cy="2331720"/>
          </a:xfrm>
          <a:prstGeom prst="roundRect">
            <a:avLst>
              <a:gd name="adj" fmla="val 3137"/>
            </a:avLst>
          </a:prstGeom>
          <a:solidFill>
            <a:srgbClr val="EAF0F1"/>
          </a:solidFill>
          <a:ln w="12700">
            <a:solidFill>
              <a:srgbClr val="EAF0F1"/>
            </a:solidFill>
            <a:prstDash val="solid"/>
          </a:ln>
        </p:spPr>
      </p:sp>
      <p:sp>
        <p:nvSpPr>
          <p:cNvPr id="9" name="Text 7"/>
          <p:cNvSpPr txBox="1"/>
          <p:nvPr/>
        </p:nvSpPr>
        <p:spPr>
          <a:xfrm>
            <a:off x="3474720" y="1389888"/>
            <a:ext cx="310896" cy="310896"/>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txBox="1"/>
          <p:nvPr/>
        </p:nvSpPr>
        <p:spPr>
          <a:xfrm>
            <a:off x="3877056" y="1371600"/>
            <a:ext cx="1847088" cy="347472"/>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Email address</a:t>
            </a:r>
            <a:endParaRPr lang="en-US" sz="1400" dirty="0"/>
          </a:p>
        </p:txBody>
      </p:sp>
      <p:sp>
        <p:nvSpPr>
          <p:cNvPr id="11" name="Text 9"/>
          <p:cNvSpPr txBox="1"/>
          <p:nvPr/>
        </p:nvSpPr>
        <p:spPr>
          <a:xfrm>
            <a:off x="3474720" y="1828800"/>
            <a:ext cx="2203704" cy="731520"/>
          </a:xfrm>
          <a:prstGeom prst="rect">
            <a:avLst/>
          </a:prstGeom>
          <a:noFill/>
          <a:ln/>
        </p:spPr>
        <p:txBody>
          <a:bodyPr wrap="square" lIns="0" tIns="0" rIns="0" bIns="0" rtlCol="0" anchor="t"/>
          <a:lstStyle/>
          <a:p>
            <a:pPr marL="0" indent="0">
              <a:buNone/>
            </a:pPr>
            <a:r>
              <a:rPr lang="en-US" sz="1150" dirty="0">
                <a:solidFill>
                  <a:srgbClr val="1F2937"/>
                </a:solidFill>
                <a:latin typeface="Arial" pitchFamily="34" charset="0"/>
                <a:ea typeface="Arial" pitchFamily="34" charset="-122"/>
                <a:cs typeface="Arial" pitchFamily="34" charset="-120"/>
              </a:rPr>
              <a:t>is_valid_email() checks the format with a regex; email is optional.</a:t>
            </a:r>
            <a:endParaRPr lang="en-US" sz="1150" dirty="0"/>
          </a:p>
        </p:txBody>
      </p:sp>
      <p:sp>
        <p:nvSpPr>
          <p:cNvPr id="12" name="Text 10"/>
          <p:cNvSpPr txBox="1"/>
          <p:nvPr/>
        </p:nvSpPr>
        <p:spPr>
          <a:xfrm>
            <a:off x="3419856" y="2606040"/>
            <a:ext cx="2313432" cy="822960"/>
          </a:xfrm>
          <a:prstGeom prst="roundRect">
            <a:avLst>
              <a:gd name="adj" fmla="val 6667"/>
            </a:avLst>
          </a:prstGeom>
          <a:solidFill>
            <a:srgbClr val="12213A"/>
          </a:solidFill>
          <a:ln/>
        </p:spPr>
        <p:txBody>
          <a:bodyPr wrap="square" lIns="101600" tIns="101600" rIns="101600" bIns="101600" rtlCol="0" anchor="ctr"/>
          <a:lstStyle/>
          <a:p>
            <a:pPr marL="0" indent="0">
              <a:buNone/>
            </a:pPr>
            <a:r>
              <a:rPr lang="en-US" sz="1050" dirty="0">
                <a:solidFill>
                  <a:srgbClr val="E8EEF5"/>
                </a:solidFill>
                <a:latin typeface="Courier New" pitchFamily="34" charset="0"/>
                <a:ea typeface="Courier New" pitchFamily="34" charset="-122"/>
                <a:cs typeface="Courier New" pitchFamily="34" charset="-120"/>
              </a:rPr>
              <a:t>Input:  "bad@"</a:t>
            </a:r>
            <a:endParaRPr lang="en-US" sz="1050" dirty="0"/>
          </a:p>
          <a:p>
            <a:pPr marL="0" indent="0">
              <a:buNone/>
            </a:pPr>
            <a:r>
              <a:rPr lang="en-US" sz="1050" dirty="0">
                <a:solidFill>
                  <a:srgbClr val="8FD694"/>
                </a:solidFill>
                <a:latin typeface="Courier New" pitchFamily="34" charset="0"/>
                <a:ea typeface="Courier New" pitchFamily="34" charset="-122"/>
                <a:cs typeface="Courier New" pitchFamily="34" charset="-120"/>
              </a:rPr>
              <a:t>Invalid email address.</a:t>
            </a:r>
            <a:endParaRPr lang="en-US" sz="1050" dirty="0"/>
          </a:p>
        </p:txBody>
      </p:sp>
      <p:sp>
        <p:nvSpPr>
          <p:cNvPr id="13" name="Shape 11"/>
          <p:cNvSpPr/>
          <p:nvPr/>
        </p:nvSpPr>
        <p:spPr>
          <a:xfrm>
            <a:off x="6071616" y="1234440"/>
            <a:ext cx="2532888" cy="2331720"/>
          </a:xfrm>
          <a:prstGeom prst="roundRect">
            <a:avLst>
              <a:gd name="adj" fmla="val 3137"/>
            </a:avLst>
          </a:prstGeom>
          <a:solidFill>
            <a:srgbClr val="EAF0F1"/>
          </a:solidFill>
          <a:ln w="12700">
            <a:solidFill>
              <a:srgbClr val="EAF0F1"/>
            </a:solidFill>
            <a:prstDash val="solid"/>
          </a:ln>
        </p:spPr>
      </p:sp>
      <p:sp>
        <p:nvSpPr>
          <p:cNvPr id="14" name="Text 12"/>
          <p:cNvSpPr txBox="1"/>
          <p:nvPr/>
        </p:nvSpPr>
        <p:spPr>
          <a:xfrm>
            <a:off x="6236208" y="1389888"/>
            <a:ext cx="310896" cy="310896"/>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5" name="Text 13"/>
          <p:cNvSpPr txBox="1"/>
          <p:nvPr/>
        </p:nvSpPr>
        <p:spPr>
          <a:xfrm>
            <a:off x="6638544" y="1371600"/>
            <a:ext cx="1847088" cy="347472"/>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Duplicate names</a:t>
            </a:r>
            <a:endParaRPr lang="en-US" sz="1400" dirty="0"/>
          </a:p>
        </p:txBody>
      </p:sp>
      <p:sp>
        <p:nvSpPr>
          <p:cNvPr id="16" name="Text 14"/>
          <p:cNvSpPr txBox="1"/>
          <p:nvPr/>
        </p:nvSpPr>
        <p:spPr>
          <a:xfrm>
            <a:off x="6236208" y="1828800"/>
            <a:ext cx="2203704" cy="731520"/>
          </a:xfrm>
          <a:prstGeom prst="rect">
            <a:avLst/>
          </a:prstGeom>
          <a:noFill/>
          <a:ln/>
        </p:spPr>
        <p:txBody>
          <a:bodyPr wrap="square" lIns="0" tIns="0" rIns="0" bIns="0" rtlCol="0" anchor="t"/>
          <a:lstStyle/>
          <a:p>
            <a:pPr marL="0" indent="0">
              <a:buNone/>
            </a:pPr>
            <a:r>
              <a:rPr lang="en-US" sz="1150" dirty="0">
                <a:solidFill>
                  <a:srgbClr val="1F2937"/>
                </a:solidFill>
                <a:latin typeface="Arial" pitchFamily="34" charset="0"/>
                <a:ea typeface="Arial" pitchFamily="34" charset="-122"/>
                <a:cs typeface="Arial" pitchFamily="34" charset="-120"/>
              </a:rPr>
              <a:t>find_index() compares names ignoring case.</a:t>
            </a:r>
            <a:endParaRPr lang="en-US" sz="1150" dirty="0"/>
          </a:p>
        </p:txBody>
      </p:sp>
      <p:sp>
        <p:nvSpPr>
          <p:cNvPr id="17" name="Text 15"/>
          <p:cNvSpPr txBox="1"/>
          <p:nvPr/>
        </p:nvSpPr>
        <p:spPr>
          <a:xfrm>
            <a:off x="6181344" y="2606040"/>
            <a:ext cx="2313432" cy="822960"/>
          </a:xfrm>
          <a:prstGeom prst="roundRect">
            <a:avLst>
              <a:gd name="adj" fmla="val 6667"/>
            </a:avLst>
          </a:prstGeom>
          <a:solidFill>
            <a:srgbClr val="12213A"/>
          </a:solidFill>
          <a:ln/>
        </p:spPr>
        <p:txBody>
          <a:bodyPr wrap="square" lIns="101600" tIns="101600" rIns="101600" bIns="101600" rtlCol="0" anchor="ctr"/>
          <a:lstStyle/>
          <a:p>
            <a:pPr marL="0" indent="0">
              <a:buNone/>
            </a:pPr>
            <a:r>
              <a:rPr lang="en-US" sz="1050" dirty="0">
                <a:solidFill>
                  <a:srgbClr val="E8EEF5"/>
                </a:solidFill>
                <a:latin typeface="Courier New" pitchFamily="34" charset="0"/>
                <a:ea typeface="Courier New" pitchFamily="34" charset="-122"/>
                <a:cs typeface="Courier New" pitchFamily="34" charset="-120"/>
              </a:rPr>
              <a:t>Input:  "roshani" (exists)</a:t>
            </a:r>
            <a:endParaRPr lang="en-US" sz="1050" dirty="0"/>
          </a:p>
          <a:p>
            <a:pPr marL="0" indent="0">
              <a:buNone/>
            </a:pPr>
            <a:r>
              <a:rPr lang="en-US" sz="1050" dirty="0">
                <a:solidFill>
                  <a:srgbClr val="8FD694"/>
                </a:solidFill>
                <a:latin typeface="Courier New" pitchFamily="34" charset="0"/>
                <a:ea typeface="Courier New" pitchFamily="34" charset="-122"/>
                <a:cs typeface="Courier New" pitchFamily="34" charset="-120"/>
              </a:rPr>
              <a:t>A contact with this name already exists.</a:t>
            </a:r>
            <a:endParaRPr lang="en-US" sz="1050" dirty="0"/>
          </a:p>
        </p:txBody>
      </p:sp>
      <p:sp>
        <p:nvSpPr>
          <p:cNvPr id="18" name="Shape 16"/>
          <p:cNvSpPr/>
          <p:nvPr/>
        </p:nvSpPr>
        <p:spPr>
          <a:xfrm>
            <a:off x="548640" y="3749040"/>
            <a:ext cx="2532888" cy="2331720"/>
          </a:xfrm>
          <a:prstGeom prst="roundRect">
            <a:avLst>
              <a:gd name="adj" fmla="val 3137"/>
            </a:avLst>
          </a:prstGeom>
          <a:solidFill>
            <a:srgbClr val="EAF0F1"/>
          </a:solidFill>
          <a:ln w="12700">
            <a:solidFill>
              <a:srgbClr val="EAF0F1"/>
            </a:solidFill>
            <a:prstDash val="solid"/>
          </a:ln>
        </p:spPr>
      </p:sp>
      <p:sp>
        <p:nvSpPr>
          <p:cNvPr id="19" name="Text 17"/>
          <p:cNvSpPr txBox="1"/>
          <p:nvPr/>
        </p:nvSpPr>
        <p:spPr>
          <a:xfrm>
            <a:off x="713232" y="3904488"/>
            <a:ext cx="310896" cy="310896"/>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8"/>
          <p:cNvSpPr txBox="1"/>
          <p:nvPr/>
        </p:nvSpPr>
        <p:spPr>
          <a:xfrm>
            <a:off x="1115568" y="3886200"/>
            <a:ext cx="1847088" cy="347472"/>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Menu choice</a:t>
            </a:r>
            <a:endParaRPr lang="en-US" sz="1400" dirty="0"/>
          </a:p>
        </p:txBody>
      </p:sp>
      <p:sp>
        <p:nvSpPr>
          <p:cNvPr id="21" name="Text 19"/>
          <p:cNvSpPr txBox="1"/>
          <p:nvPr/>
        </p:nvSpPr>
        <p:spPr>
          <a:xfrm>
            <a:off x="713232" y="4343400"/>
            <a:ext cx="2203704" cy="731520"/>
          </a:xfrm>
          <a:prstGeom prst="rect">
            <a:avLst/>
          </a:prstGeom>
          <a:noFill/>
          <a:ln/>
        </p:spPr>
        <p:txBody>
          <a:bodyPr wrap="square" lIns="0" tIns="0" rIns="0" bIns="0" rtlCol="0" anchor="t"/>
          <a:lstStyle/>
          <a:p>
            <a:pPr marL="0" indent="0">
              <a:buNone/>
            </a:pPr>
            <a:r>
              <a:rPr lang="en-US" sz="1150" dirty="0">
                <a:solidFill>
                  <a:srgbClr val="1F2937"/>
                </a:solidFill>
                <a:latin typeface="Arial" pitchFamily="34" charset="0"/>
                <a:ea typeface="Arial" pitchFamily="34" charset="-122"/>
                <a:cs typeface="Arial" pitchFamily="34" charset="-120"/>
              </a:rPr>
              <a:t>Any option other than 1–6 is rejected and the menu returns.</a:t>
            </a:r>
            <a:endParaRPr lang="en-US" sz="1150" dirty="0"/>
          </a:p>
        </p:txBody>
      </p:sp>
      <p:sp>
        <p:nvSpPr>
          <p:cNvPr id="22" name="Text 20"/>
          <p:cNvSpPr txBox="1"/>
          <p:nvPr/>
        </p:nvSpPr>
        <p:spPr>
          <a:xfrm>
            <a:off x="658368" y="5120640"/>
            <a:ext cx="2313432" cy="822960"/>
          </a:xfrm>
          <a:prstGeom prst="roundRect">
            <a:avLst>
              <a:gd name="adj" fmla="val 6667"/>
            </a:avLst>
          </a:prstGeom>
          <a:solidFill>
            <a:srgbClr val="12213A"/>
          </a:solidFill>
          <a:ln/>
        </p:spPr>
        <p:txBody>
          <a:bodyPr wrap="square" lIns="101600" tIns="101600" rIns="101600" bIns="101600" rtlCol="0" anchor="ctr"/>
          <a:lstStyle/>
          <a:p>
            <a:pPr marL="0" indent="0">
              <a:buNone/>
            </a:pPr>
            <a:r>
              <a:rPr lang="en-US" sz="1050" dirty="0">
                <a:solidFill>
                  <a:srgbClr val="E8EEF5"/>
                </a:solidFill>
                <a:latin typeface="Courier New" pitchFamily="34" charset="0"/>
                <a:ea typeface="Courier New" pitchFamily="34" charset="-122"/>
                <a:cs typeface="Courier New" pitchFamily="34" charset="-120"/>
              </a:rPr>
              <a:t>Input:  "7"</a:t>
            </a:r>
            <a:endParaRPr lang="en-US" sz="1050" dirty="0"/>
          </a:p>
          <a:p>
            <a:pPr marL="0" indent="0">
              <a:buNone/>
            </a:pPr>
            <a:r>
              <a:rPr lang="en-US" sz="1050" dirty="0">
                <a:solidFill>
                  <a:srgbClr val="8FD694"/>
                </a:solidFill>
                <a:latin typeface="Courier New" pitchFamily="34" charset="0"/>
                <a:ea typeface="Courier New" pitchFamily="34" charset="-122"/>
                <a:cs typeface="Courier New" pitchFamily="34" charset="-120"/>
              </a:rPr>
              <a:t>Invalid choice. Please enter a number from 1 to 6.</a:t>
            </a:r>
            <a:endParaRPr lang="en-US" sz="1050" dirty="0"/>
          </a:p>
        </p:txBody>
      </p:sp>
      <p:sp>
        <p:nvSpPr>
          <p:cNvPr id="23" name="Shape 21"/>
          <p:cNvSpPr/>
          <p:nvPr/>
        </p:nvSpPr>
        <p:spPr>
          <a:xfrm>
            <a:off x="3310128" y="3749040"/>
            <a:ext cx="2532888" cy="2331720"/>
          </a:xfrm>
          <a:prstGeom prst="roundRect">
            <a:avLst>
              <a:gd name="adj" fmla="val 3137"/>
            </a:avLst>
          </a:prstGeom>
          <a:solidFill>
            <a:srgbClr val="EAF0F1"/>
          </a:solidFill>
          <a:ln w="12700">
            <a:solidFill>
              <a:srgbClr val="EAF0F1"/>
            </a:solidFill>
            <a:prstDash val="solid"/>
          </a:ln>
        </p:spPr>
      </p:sp>
      <p:sp>
        <p:nvSpPr>
          <p:cNvPr id="24" name="Text 22"/>
          <p:cNvSpPr txBox="1"/>
          <p:nvPr/>
        </p:nvSpPr>
        <p:spPr>
          <a:xfrm>
            <a:off x="3474720" y="3904488"/>
            <a:ext cx="310896" cy="310896"/>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5" name="Text 23"/>
          <p:cNvSpPr txBox="1"/>
          <p:nvPr/>
        </p:nvSpPr>
        <p:spPr>
          <a:xfrm>
            <a:off x="3877056" y="3886200"/>
            <a:ext cx="1847088" cy="347472"/>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Missing / corrupt file</a:t>
            </a:r>
            <a:endParaRPr lang="en-US" sz="1400" dirty="0"/>
          </a:p>
        </p:txBody>
      </p:sp>
      <p:sp>
        <p:nvSpPr>
          <p:cNvPr id="26" name="Text 24"/>
          <p:cNvSpPr txBox="1"/>
          <p:nvPr/>
        </p:nvSpPr>
        <p:spPr>
          <a:xfrm>
            <a:off x="3474720" y="4343400"/>
            <a:ext cx="2203704" cy="731520"/>
          </a:xfrm>
          <a:prstGeom prst="rect">
            <a:avLst/>
          </a:prstGeom>
          <a:noFill/>
          <a:ln/>
        </p:spPr>
        <p:txBody>
          <a:bodyPr wrap="square" lIns="0" tIns="0" rIns="0" bIns="0" rtlCol="0" anchor="t"/>
          <a:lstStyle/>
          <a:p>
            <a:pPr marL="0" indent="0">
              <a:buNone/>
            </a:pPr>
            <a:r>
              <a:rPr lang="en-US" sz="1150" dirty="0">
                <a:solidFill>
                  <a:srgbClr val="1F2937"/>
                </a:solidFill>
                <a:latin typeface="Arial" pitchFamily="34" charset="0"/>
                <a:ea typeface="Arial" pitchFamily="34" charset="-122"/>
                <a:cs typeface="Arial" pitchFamily="34" charset="-120"/>
              </a:rPr>
              <a:t>JSONDecodeError and OSError are caught while loading.</a:t>
            </a:r>
            <a:endParaRPr lang="en-US" sz="1150" dirty="0"/>
          </a:p>
        </p:txBody>
      </p:sp>
      <p:sp>
        <p:nvSpPr>
          <p:cNvPr id="27" name="Text 25"/>
          <p:cNvSpPr txBox="1"/>
          <p:nvPr/>
        </p:nvSpPr>
        <p:spPr>
          <a:xfrm>
            <a:off x="3419856" y="5111309"/>
            <a:ext cx="2313432" cy="822960"/>
          </a:xfrm>
          <a:prstGeom prst="roundRect">
            <a:avLst>
              <a:gd name="adj" fmla="val 6667"/>
            </a:avLst>
          </a:prstGeom>
          <a:solidFill>
            <a:srgbClr val="12213A"/>
          </a:solidFill>
          <a:ln/>
        </p:spPr>
        <p:txBody>
          <a:bodyPr wrap="square" lIns="101600" tIns="101600" rIns="101600" bIns="101600" rtlCol="0" anchor="ctr"/>
          <a:lstStyle/>
          <a:p>
            <a:pPr marL="0" indent="0">
              <a:buNone/>
            </a:pPr>
            <a:r>
              <a:rPr lang="en-US" sz="1050" dirty="0">
                <a:solidFill>
                  <a:srgbClr val="E8EEF5"/>
                </a:solidFill>
                <a:latin typeface="Courier New" pitchFamily="34" charset="0"/>
                <a:ea typeface="Courier New" pitchFamily="34" charset="-122"/>
                <a:cs typeface="Courier New" pitchFamily="34" charset="-120"/>
              </a:rPr>
              <a:t>Input:  contacts.json damaged</a:t>
            </a:r>
            <a:endParaRPr lang="en-US" sz="1050" dirty="0"/>
          </a:p>
          <a:p>
            <a:pPr marL="0" indent="0">
              <a:buNone/>
            </a:pPr>
            <a:r>
              <a:rPr lang="en-US" sz="1050" dirty="0">
                <a:solidFill>
                  <a:srgbClr val="8FD694"/>
                </a:solidFill>
                <a:latin typeface="Courier New" pitchFamily="34" charset="0"/>
                <a:ea typeface="Courier New" pitchFamily="34" charset="-122"/>
                <a:cs typeface="Courier New" pitchFamily="34" charset="-120"/>
              </a:rPr>
              <a:t>Warning printed, starts with an empty book.</a:t>
            </a:r>
            <a:endParaRPr lang="en-US" sz="1050" dirty="0"/>
          </a:p>
        </p:txBody>
      </p:sp>
      <p:sp>
        <p:nvSpPr>
          <p:cNvPr id="28" name="Shape 26"/>
          <p:cNvSpPr/>
          <p:nvPr/>
        </p:nvSpPr>
        <p:spPr>
          <a:xfrm>
            <a:off x="6071616" y="3749040"/>
            <a:ext cx="2532888" cy="2331720"/>
          </a:xfrm>
          <a:prstGeom prst="roundRect">
            <a:avLst>
              <a:gd name="adj" fmla="val 3137"/>
            </a:avLst>
          </a:prstGeom>
          <a:solidFill>
            <a:srgbClr val="EAF0F1"/>
          </a:solidFill>
          <a:ln w="12700">
            <a:solidFill>
              <a:srgbClr val="EAF0F1"/>
            </a:solidFill>
            <a:prstDash val="solid"/>
          </a:ln>
        </p:spPr>
      </p:sp>
      <p:sp>
        <p:nvSpPr>
          <p:cNvPr id="29" name="Text 27"/>
          <p:cNvSpPr txBox="1"/>
          <p:nvPr/>
        </p:nvSpPr>
        <p:spPr>
          <a:xfrm>
            <a:off x="6236208" y="3904488"/>
            <a:ext cx="310896" cy="310896"/>
          </a:xfrm>
          <a:prstGeom prst="ellipse">
            <a:avLst/>
          </a:prstGeom>
          <a:solidFill>
            <a:srgbClr val="1B365D"/>
          </a:solidFill>
          <a:ln>
            <a:solidFill>
              <a:srgbClr val="1B365D"/>
            </a:solid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0" name="Text 28"/>
          <p:cNvSpPr txBox="1"/>
          <p:nvPr/>
        </p:nvSpPr>
        <p:spPr>
          <a:xfrm>
            <a:off x="6638544" y="3886200"/>
            <a:ext cx="1847088" cy="347472"/>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Ctrl+C / end of input</a:t>
            </a:r>
            <a:endParaRPr lang="en-US" sz="1400" dirty="0"/>
          </a:p>
        </p:txBody>
      </p:sp>
      <p:sp>
        <p:nvSpPr>
          <p:cNvPr id="31" name="Text 29"/>
          <p:cNvSpPr txBox="1"/>
          <p:nvPr/>
        </p:nvSpPr>
        <p:spPr>
          <a:xfrm>
            <a:off x="6236208" y="4343400"/>
            <a:ext cx="2203704" cy="731520"/>
          </a:xfrm>
          <a:prstGeom prst="rect">
            <a:avLst/>
          </a:prstGeom>
          <a:noFill/>
          <a:ln/>
        </p:spPr>
        <p:txBody>
          <a:bodyPr wrap="square" lIns="0" tIns="0" rIns="0" bIns="0" rtlCol="0" anchor="t"/>
          <a:lstStyle/>
          <a:p>
            <a:pPr marL="0" indent="0">
              <a:buNone/>
            </a:pPr>
            <a:r>
              <a:rPr lang="en-US" sz="1150" dirty="0">
                <a:solidFill>
                  <a:srgbClr val="1F2937"/>
                </a:solidFill>
                <a:latin typeface="Arial" pitchFamily="34" charset="0"/>
                <a:ea typeface="Arial" pitchFamily="34" charset="-122"/>
                <a:cs typeface="Arial" pitchFamily="34" charset="-120"/>
              </a:rPr>
              <a:t>KeyboardInterrupt and EOFError are caught in main().</a:t>
            </a:r>
            <a:endParaRPr lang="en-US" sz="1150" dirty="0"/>
          </a:p>
        </p:txBody>
      </p:sp>
      <p:sp>
        <p:nvSpPr>
          <p:cNvPr id="32" name="Text 30"/>
          <p:cNvSpPr txBox="1"/>
          <p:nvPr/>
        </p:nvSpPr>
        <p:spPr>
          <a:xfrm>
            <a:off x="6181344" y="5120640"/>
            <a:ext cx="2313432" cy="822960"/>
          </a:xfrm>
          <a:prstGeom prst="roundRect">
            <a:avLst>
              <a:gd name="adj" fmla="val 6667"/>
            </a:avLst>
          </a:prstGeom>
          <a:solidFill>
            <a:srgbClr val="12213A"/>
          </a:solidFill>
          <a:ln/>
        </p:spPr>
        <p:txBody>
          <a:bodyPr wrap="square" lIns="101600" tIns="101600" rIns="101600" bIns="101600" rtlCol="0" anchor="ctr"/>
          <a:lstStyle/>
          <a:p>
            <a:pPr marL="0" indent="0">
              <a:buNone/>
            </a:pPr>
            <a:r>
              <a:rPr lang="en-US" sz="1050" dirty="0">
                <a:solidFill>
                  <a:srgbClr val="E8EEF5"/>
                </a:solidFill>
                <a:latin typeface="Courier New" pitchFamily="34" charset="0"/>
                <a:ea typeface="Courier New" pitchFamily="34" charset="-122"/>
                <a:cs typeface="Courier New" pitchFamily="34" charset="-120"/>
              </a:rPr>
              <a:t>Input:  Ctrl+C</a:t>
            </a:r>
            <a:endParaRPr lang="en-US" sz="1050" dirty="0"/>
          </a:p>
          <a:p>
            <a:pPr marL="0" indent="0">
              <a:buNone/>
            </a:pPr>
            <a:r>
              <a:rPr lang="en-US" sz="1050" dirty="0">
                <a:solidFill>
                  <a:srgbClr val="8FD694"/>
                </a:solidFill>
                <a:latin typeface="Courier New" pitchFamily="34" charset="0"/>
                <a:ea typeface="Courier New" pitchFamily="34" charset="-122"/>
                <a:cs typeface="Courier New" pitchFamily="34" charset="-120"/>
              </a:rPr>
              <a:t>Contacts saved, program exits cleanly.</a:t>
            </a:r>
            <a:endParaRPr lang="en-US" sz="1050" dirty="0"/>
          </a:p>
        </p:txBody>
      </p:sp>
      <p:sp>
        <p:nvSpPr>
          <p:cNvPr id="33"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Program Output (1/2)</a:t>
            </a:r>
            <a:endParaRPr lang="en-US" sz="3000" dirty="0"/>
          </a:p>
        </p:txBody>
      </p:sp>
      <p:sp>
        <p:nvSpPr>
          <p:cNvPr id="3" name="Shape 1"/>
          <p:cNvSpPr/>
          <p:nvPr/>
        </p:nvSpPr>
        <p:spPr>
          <a:xfrm>
            <a:off x="457200" y="1188720"/>
            <a:ext cx="5623560" cy="4389628"/>
          </a:xfrm>
          <a:prstGeom prst="roundRect">
            <a:avLst>
              <a:gd name="adj" fmla="val 1666"/>
            </a:avLst>
          </a:prstGeom>
          <a:solidFill>
            <a:srgbClr val="12213A"/>
          </a:solidFill>
          <a:ln w="12700">
            <a:solidFill>
              <a:srgbClr val="12213A"/>
            </a:solidFill>
            <a:prstDash val="solid"/>
          </a:ln>
          <a:effectLst>
            <a:outerShdw blurRad="50800" dist="25400" dir="5400000" algn="bl" rotWithShape="0">
              <a:srgbClr val="000000">
                <a:alpha val="25000"/>
              </a:srgbClr>
            </a:outerShdw>
          </a:effectLst>
        </p:spPr>
      </p:sp>
      <p:sp>
        <p:nvSpPr>
          <p:cNvPr id="4" name="Shape 2"/>
          <p:cNvSpPr/>
          <p:nvPr/>
        </p:nvSpPr>
        <p:spPr>
          <a:xfrm>
            <a:off x="640080" y="1344168"/>
            <a:ext cx="118872" cy="118872"/>
          </a:xfrm>
          <a:prstGeom prst="ellipse">
            <a:avLst/>
          </a:prstGeom>
          <a:solidFill>
            <a:srgbClr val="FF5F57"/>
          </a:solidFill>
          <a:ln w="12700">
            <a:solidFill>
              <a:srgbClr val="FF5F57"/>
            </a:solidFill>
            <a:prstDash val="solid"/>
          </a:ln>
        </p:spPr>
      </p:sp>
      <p:sp>
        <p:nvSpPr>
          <p:cNvPr id="5" name="Shape 3"/>
          <p:cNvSpPr/>
          <p:nvPr/>
        </p:nvSpPr>
        <p:spPr>
          <a:xfrm>
            <a:off x="822960" y="1344168"/>
            <a:ext cx="118872" cy="118872"/>
          </a:xfrm>
          <a:prstGeom prst="ellipse">
            <a:avLst/>
          </a:prstGeom>
          <a:solidFill>
            <a:srgbClr val="FEBC2E"/>
          </a:solidFill>
          <a:ln w="12700">
            <a:solidFill>
              <a:srgbClr val="FEBC2E"/>
            </a:solidFill>
            <a:prstDash val="solid"/>
          </a:ln>
        </p:spPr>
      </p:sp>
      <p:sp>
        <p:nvSpPr>
          <p:cNvPr id="6" name="Shape 4"/>
          <p:cNvSpPr/>
          <p:nvPr/>
        </p:nvSpPr>
        <p:spPr>
          <a:xfrm>
            <a:off x="1005840" y="1344168"/>
            <a:ext cx="118872" cy="118872"/>
          </a:xfrm>
          <a:prstGeom prst="ellipse">
            <a:avLst/>
          </a:prstGeom>
          <a:solidFill>
            <a:srgbClr val="28C840"/>
          </a:solidFill>
          <a:ln w="12700">
            <a:solidFill>
              <a:srgbClr val="28C840"/>
            </a:solidFill>
            <a:prstDash val="solid"/>
          </a:ln>
        </p:spPr>
      </p:sp>
      <p:sp>
        <p:nvSpPr>
          <p:cNvPr id="7" name="Text 5"/>
          <p:cNvSpPr txBox="1"/>
          <p:nvPr/>
        </p:nvSpPr>
        <p:spPr>
          <a:xfrm>
            <a:off x="1371600" y="1280160"/>
            <a:ext cx="4526280" cy="256032"/>
          </a:xfrm>
          <a:prstGeom prst="rect">
            <a:avLst/>
          </a:prstGeom>
          <a:noFill/>
          <a:ln/>
        </p:spPr>
        <p:txBody>
          <a:bodyPr wrap="square" lIns="0" tIns="0" rIns="0" bIns="0" rtlCol="0" anchor="ctr"/>
          <a:lstStyle/>
          <a:p>
            <a:pPr marL="0" indent="0">
              <a:buNone/>
            </a:pPr>
            <a:r>
              <a:rPr lang="en-US" sz="1100" dirty="0">
                <a:solidFill>
                  <a:srgbClr val="7F93AD"/>
                </a:solidFill>
                <a:latin typeface="Courier New" pitchFamily="34" charset="0"/>
                <a:ea typeface="Courier New" pitchFamily="34" charset="-122"/>
                <a:cs typeface="Courier New" pitchFamily="34" charset="-120"/>
              </a:rPr>
              <a:t>python contact_book.py</a:t>
            </a:r>
            <a:endParaRPr lang="en-US" sz="1100" dirty="0"/>
          </a:p>
        </p:txBody>
      </p:sp>
      <p:sp>
        <p:nvSpPr>
          <p:cNvPr id="8" name="Text 6"/>
          <p:cNvSpPr txBox="1"/>
          <p:nvPr/>
        </p:nvSpPr>
        <p:spPr>
          <a:xfrm>
            <a:off x="731520" y="1645920"/>
            <a:ext cx="5166360" cy="3795268"/>
          </a:xfrm>
          <a:prstGeom prst="rect">
            <a:avLst/>
          </a:prstGeom>
          <a:noFill/>
          <a:ln/>
        </p:spPr>
        <p:txBody>
          <a:bodyPr wrap="square" lIns="0" tIns="0" rIns="0" bIns="0" rtlCol="0" anchor="t"/>
          <a:lstStyle/>
          <a:p>
            <a:pPr marL="0" indent="0">
              <a:buNone/>
            </a:pPr>
            <a:r>
              <a:rPr lang="en-US" sz="1100" b="1" dirty="0">
                <a:solidFill>
                  <a:srgbClr val="FFFFFF"/>
                </a:solidFill>
                <a:latin typeface="Courier New" pitchFamily="34" charset="0"/>
                <a:ea typeface="Courier New" pitchFamily="34" charset="-122"/>
                <a:cs typeface="Courier New" pitchFamily="34" charset="-120"/>
              </a:rPr>
              <a:t>===== CONTACT BOOK =====</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1. Add Contact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2. View All Contacts</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3. Search Contact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4. Edit Contact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5. Delete Contact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6. Exit</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1</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Name  : </a:t>
            </a:r>
            <a:r>
              <a:rPr lang="en-US" sz="1100" b="1" dirty="0">
                <a:solidFill>
                  <a:srgbClr val="FFD166"/>
                </a:solidFill>
                <a:latin typeface="Courier New" pitchFamily="34" charset="0"/>
                <a:ea typeface="Courier New" pitchFamily="34" charset="-122"/>
                <a:cs typeface="Courier New" pitchFamily="34" charset="-120"/>
              </a:rPr>
              <a:t>Roshani Wankhede</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Phone : </a:t>
            </a:r>
            <a:r>
              <a:rPr lang="en-US" sz="1100" b="1" dirty="0">
                <a:solidFill>
                  <a:srgbClr val="FFD166"/>
                </a:solidFill>
                <a:latin typeface="Courier New" pitchFamily="34" charset="0"/>
                <a:ea typeface="Courier New" pitchFamily="34" charset="-122"/>
                <a:cs typeface="Courier New" pitchFamily="34" charset="-120"/>
              </a:rPr>
              <a:t>9876543210</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Email (optional): </a:t>
            </a:r>
            <a:r>
              <a:rPr lang="en-US" sz="1100" b="1" dirty="0">
                <a:solidFill>
                  <a:srgbClr val="FFD166"/>
                </a:solidFill>
                <a:latin typeface="Courier New" pitchFamily="34" charset="0"/>
                <a:ea typeface="Courier New" pitchFamily="34" charset="-122"/>
                <a:cs typeface="Courier New" pitchFamily="34" charset="-120"/>
              </a:rPr>
              <a:t>roshani@gmail.com</a:t>
            </a:r>
            <a:endParaRPr lang="en-US" sz="1100" dirty="0"/>
          </a:p>
          <a:p>
            <a:pPr marL="0" indent="0">
              <a:buNone/>
            </a:pPr>
            <a:r>
              <a:rPr lang="en-US" sz="1100" dirty="0">
                <a:solidFill>
                  <a:srgbClr val="8FD694"/>
                </a:solidFill>
                <a:latin typeface="Courier New" pitchFamily="34" charset="0"/>
                <a:ea typeface="Courier New" pitchFamily="34" charset="-122"/>
                <a:cs typeface="Courier New" pitchFamily="34" charset="-120"/>
              </a:rPr>
              <a:t>Contact added successfully.</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1</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Name  : </a:t>
            </a:r>
            <a:r>
              <a:rPr lang="en-US" sz="1100" b="1" dirty="0">
                <a:solidFill>
                  <a:srgbClr val="FFD166"/>
                </a:solidFill>
                <a:latin typeface="Courier New" pitchFamily="34" charset="0"/>
                <a:ea typeface="Courier New" pitchFamily="34" charset="-122"/>
                <a:cs typeface="Courier New" pitchFamily="34" charset="-120"/>
              </a:rPr>
              <a:t>Amit Sharma</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Phone : </a:t>
            </a:r>
            <a:r>
              <a:rPr lang="en-US" sz="1100" b="1" dirty="0">
                <a:solidFill>
                  <a:srgbClr val="FFD166"/>
                </a:solidFill>
                <a:latin typeface="Courier New" pitchFamily="34" charset="0"/>
                <a:ea typeface="Courier New" pitchFamily="34" charset="-122"/>
                <a:cs typeface="Courier New" pitchFamily="34" charset="-120"/>
              </a:rPr>
              <a:t>12345</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Email (optional): </a:t>
            </a:r>
            <a:r>
              <a:rPr lang="en-US" sz="1100" b="1" dirty="0">
                <a:solidFill>
                  <a:srgbClr val="FFD166"/>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FF8A80"/>
                </a:solidFill>
                <a:latin typeface="Courier New" pitchFamily="34" charset="0"/>
                <a:ea typeface="Courier New" pitchFamily="34" charset="-122"/>
                <a:cs typeface="Courier New" pitchFamily="34" charset="-120"/>
              </a:rPr>
              <a:t>Phone must be exactly 10 digits.</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1</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Name  : </a:t>
            </a:r>
            <a:r>
              <a:rPr lang="en-US" sz="1100" b="1" dirty="0">
                <a:solidFill>
                  <a:srgbClr val="FFD166"/>
                </a:solidFill>
                <a:latin typeface="Courier New" pitchFamily="34" charset="0"/>
                <a:ea typeface="Courier New" pitchFamily="34" charset="-122"/>
                <a:cs typeface="Courier New" pitchFamily="34" charset="-120"/>
              </a:rPr>
              <a:t>Amit Sharma</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Phone : </a:t>
            </a:r>
            <a:r>
              <a:rPr lang="en-US" sz="1100" b="1" dirty="0">
                <a:solidFill>
                  <a:srgbClr val="FFD166"/>
                </a:solidFill>
                <a:latin typeface="Courier New" pitchFamily="34" charset="0"/>
                <a:ea typeface="Courier New" pitchFamily="34" charset="-122"/>
                <a:cs typeface="Courier New" pitchFamily="34" charset="-120"/>
              </a:rPr>
              <a:t>9123456780</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Email (optional): </a:t>
            </a:r>
            <a:r>
              <a:rPr lang="en-US" sz="1100" b="1" dirty="0">
                <a:solidFill>
                  <a:srgbClr val="FFD166"/>
                </a:solidFill>
                <a:latin typeface="Courier New" pitchFamily="34" charset="0"/>
                <a:ea typeface="Courier New" pitchFamily="34" charset="-122"/>
                <a:cs typeface="Courier New" pitchFamily="34" charset="-120"/>
              </a:rPr>
              <a:t>amit@mail.com</a:t>
            </a:r>
            <a:endParaRPr lang="en-US" sz="1100" dirty="0"/>
          </a:p>
          <a:p>
            <a:pPr marL="0" indent="0">
              <a:buNone/>
            </a:pPr>
            <a:r>
              <a:rPr lang="en-US" sz="1100" dirty="0">
                <a:solidFill>
                  <a:srgbClr val="8FD694"/>
                </a:solidFill>
                <a:latin typeface="Courier New" pitchFamily="34" charset="0"/>
                <a:ea typeface="Courier New" pitchFamily="34" charset="-122"/>
                <a:cs typeface="Courier New" pitchFamily="34" charset="-120"/>
              </a:rPr>
              <a:t>Contact added successfully.</a:t>
            </a:r>
            <a:endParaRPr lang="en-US" sz="1100" dirty="0"/>
          </a:p>
        </p:txBody>
      </p:sp>
      <p:sp>
        <p:nvSpPr>
          <p:cNvPr id="9" name="Text 7"/>
          <p:cNvSpPr txBox="1"/>
          <p:nvPr/>
        </p:nvSpPr>
        <p:spPr>
          <a:xfrm>
            <a:off x="6355080" y="1188720"/>
            <a:ext cx="2377440" cy="320040"/>
          </a:xfrm>
          <a:prstGeom prst="rect">
            <a:avLst/>
          </a:prstGeom>
          <a:noFill/>
          <a:ln/>
        </p:spPr>
        <p:txBody>
          <a:bodyPr wrap="square" lIns="0" tIns="0" rIns="0" bIns="0" rtlCol="0" anchor="ctr"/>
          <a:lstStyle/>
          <a:p>
            <a:pPr marL="0" indent="0">
              <a:buNone/>
            </a:pPr>
            <a:r>
              <a:rPr lang="en-US" sz="1600" b="1" dirty="0">
                <a:solidFill>
                  <a:srgbClr val="1B365D"/>
                </a:solidFill>
                <a:latin typeface="Arial" pitchFamily="34" charset="0"/>
                <a:ea typeface="Arial" pitchFamily="34" charset="-122"/>
                <a:cs typeface="Arial" pitchFamily="34" charset="-120"/>
              </a:rPr>
              <a:t>What this shows</a:t>
            </a:r>
            <a:endParaRPr lang="en-US" sz="1600" dirty="0"/>
          </a:p>
        </p:txBody>
      </p:sp>
      <p:sp>
        <p:nvSpPr>
          <p:cNvPr id="10" name="Text 8"/>
          <p:cNvSpPr txBox="1"/>
          <p:nvPr/>
        </p:nvSpPr>
        <p:spPr>
          <a:xfrm>
            <a:off x="6355080" y="167335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1" name="Text 9"/>
          <p:cNvSpPr txBox="1"/>
          <p:nvPr/>
        </p:nvSpPr>
        <p:spPr>
          <a:xfrm>
            <a:off x="6720840" y="164592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Menu-driven interface</a:t>
            </a:r>
            <a:endParaRPr lang="en-US" sz="1300" dirty="0"/>
          </a:p>
        </p:txBody>
      </p:sp>
      <p:sp>
        <p:nvSpPr>
          <p:cNvPr id="12" name="Text 10"/>
          <p:cNvSpPr txBox="1"/>
          <p:nvPr/>
        </p:nvSpPr>
        <p:spPr>
          <a:xfrm>
            <a:off x="6355080" y="245059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3" name="Text 11"/>
          <p:cNvSpPr txBox="1"/>
          <p:nvPr/>
        </p:nvSpPr>
        <p:spPr>
          <a:xfrm>
            <a:off x="6720840" y="242316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Valid contact accepted</a:t>
            </a:r>
            <a:endParaRPr lang="en-US" sz="1300" dirty="0"/>
          </a:p>
        </p:txBody>
      </p:sp>
      <p:sp>
        <p:nvSpPr>
          <p:cNvPr id="14" name="Text 12"/>
          <p:cNvSpPr txBox="1"/>
          <p:nvPr/>
        </p:nvSpPr>
        <p:spPr>
          <a:xfrm>
            <a:off x="6355080" y="322783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5" name="Text 13"/>
          <p:cNvSpPr txBox="1"/>
          <p:nvPr/>
        </p:nvSpPr>
        <p:spPr>
          <a:xfrm>
            <a:off x="6720840" y="320040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Invalid phone rejected with a message</a:t>
            </a:r>
            <a:endParaRPr lang="en-US" sz="1300" dirty="0"/>
          </a:p>
        </p:txBody>
      </p:sp>
      <p:sp>
        <p:nvSpPr>
          <p:cNvPr id="16" name="Text 14"/>
          <p:cNvSpPr txBox="1"/>
          <p:nvPr/>
        </p:nvSpPr>
        <p:spPr>
          <a:xfrm>
            <a:off x="6355080" y="400507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7" name="Text 15"/>
          <p:cNvSpPr txBox="1"/>
          <p:nvPr/>
        </p:nvSpPr>
        <p:spPr>
          <a:xfrm>
            <a:off x="6720840" y="397764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Duplicate and empty names are blocked</a:t>
            </a:r>
            <a:endParaRPr lang="en-US" sz="13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Program Output (2/2)</a:t>
            </a:r>
            <a:endParaRPr lang="en-US" sz="3000" dirty="0"/>
          </a:p>
        </p:txBody>
      </p:sp>
      <p:sp>
        <p:nvSpPr>
          <p:cNvPr id="3" name="Shape 1"/>
          <p:cNvSpPr/>
          <p:nvPr/>
        </p:nvSpPr>
        <p:spPr>
          <a:xfrm>
            <a:off x="457200" y="1188720"/>
            <a:ext cx="5623560" cy="4389628"/>
          </a:xfrm>
          <a:prstGeom prst="roundRect">
            <a:avLst>
              <a:gd name="adj" fmla="val 1666"/>
            </a:avLst>
          </a:prstGeom>
          <a:solidFill>
            <a:srgbClr val="12213A"/>
          </a:solidFill>
          <a:ln w="12700">
            <a:solidFill>
              <a:srgbClr val="12213A"/>
            </a:solidFill>
            <a:prstDash val="solid"/>
          </a:ln>
          <a:effectLst>
            <a:outerShdw blurRad="50800" dist="25400" dir="5400000" algn="bl" rotWithShape="0">
              <a:srgbClr val="000000">
                <a:alpha val="25000"/>
              </a:srgbClr>
            </a:outerShdw>
          </a:effectLst>
        </p:spPr>
      </p:sp>
      <p:sp>
        <p:nvSpPr>
          <p:cNvPr id="4" name="Shape 2"/>
          <p:cNvSpPr/>
          <p:nvPr/>
        </p:nvSpPr>
        <p:spPr>
          <a:xfrm>
            <a:off x="640080" y="1344168"/>
            <a:ext cx="118872" cy="118872"/>
          </a:xfrm>
          <a:prstGeom prst="ellipse">
            <a:avLst/>
          </a:prstGeom>
          <a:solidFill>
            <a:srgbClr val="FF5F57"/>
          </a:solidFill>
          <a:ln w="12700">
            <a:solidFill>
              <a:srgbClr val="FF5F57"/>
            </a:solidFill>
            <a:prstDash val="solid"/>
          </a:ln>
        </p:spPr>
      </p:sp>
      <p:sp>
        <p:nvSpPr>
          <p:cNvPr id="5" name="Shape 3"/>
          <p:cNvSpPr/>
          <p:nvPr/>
        </p:nvSpPr>
        <p:spPr>
          <a:xfrm>
            <a:off x="822960" y="1344168"/>
            <a:ext cx="118872" cy="118872"/>
          </a:xfrm>
          <a:prstGeom prst="ellipse">
            <a:avLst/>
          </a:prstGeom>
          <a:solidFill>
            <a:srgbClr val="FEBC2E"/>
          </a:solidFill>
          <a:ln w="12700">
            <a:solidFill>
              <a:srgbClr val="FEBC2E"/>
            </a:solidFill>
            <a:prstDash val="solid"/>
          </a:ln>
        </p:spPr>
      </p:sp>
      <p:sp>
        <p:nvSpPr>
          <p:cNvPr id="6" name="Shape 4"/>
          <p:cNvSpPr/>
          <p:nvPr/>
        </p:nvSpPr>
        <p:spPr>
          <a:xfrm>
            <a:off x="1005840" y="1344168"/>
            <a:ext cx="118872" cy="118872"/>
          </a:xfrm>
          <a:prstGeom prst="ellipse">
            <a:avLst/>
          </a:prstGeom>
          <a:solidFill>
            <a:srgbClr val="28C840"/>
          </a:solidFill>
          <a:ln w="12700">
            <a:solidFill>
              <a:srgbClr val="28C840"/>
            </a:solidFill>
            <a:prstDash val="solid"/>
          </a:ln>
        </p:spPr>
      </p:sp>
      <p:sp>
        <p:nvSpPr>
          <p:cNvPr id="7" name="Text 5"/>
          <p:cNvSpPr txBox="1"/>
          <p:nvPr/>
        </p:nvSpPr>
        <p:spPr>
          <a:xfrm>
            <a:off x="1371600" y="1280160"/>
            <a:ext cx="4526280" cy="256032"/>
          </a:xfrm>
          <a:prstGeom prst="rect">
            <a:avLst/>
          </a:prstGeom>
          <a:noFill/>
          <a:ln/>
        </p:spPr>
        <p:txBody>
          <a:bodyPr wrap="square" lIns="0" tIns="0" rIns="0" bIns="0" rtlCol="0" anchor="ctr"/>
          <a:lstStyle/>
          <a:p>
            <a:pPr marL="0" indent="0">
              <a:buNone/>
            </a:pPr>
            <a:r>
              <a:rPr lang="en-US" sz="1100" dirty="0">
                <a:solidFill>
                  <a:srgbClr val="7F93AD"/>
                </a:solidFill>
                <a:latin typeface="Courier New" pitchFamily="34" charset="0"/>
                <a:ea typeface="Courier New" pitchFamily="34" charset="-122"/>
                <a:cs typeface="Courier New" pitchFamily="34" charset="-120"/>
              </a:rPr>
              <a:t>python contact_book.py</a:t>
            </a:r>
            <a:endParaRPr lang="en-US" sz="1100" dirty="0"/>
          </a:p>
        </p:txBody>
      </p:sp>
      <p:sp>
        <p:nvSpPr>
          <p:cNvPr id="8" name="Text 6"/>
          <p:cNvSpPr txBox="1"/>
          <p:nvPr/>
        </p:nvSpPr>
        <p:spPr>
          <a:xfrm>
            <a:off x="731520" y="1645920"/>
            <a:ext cx="5166360" cy="3795268"/>
          </a:xfrm>
          <a:prstGeom prst="rect">
            <a:avLst/>
          </a:prstGeom>
          <a:noFill/>
          <a:ln/>
        </p:spPr>
        <p:txBody>
          <a:bodyPr wrap="square" lIns="0" tIns="0" rIns="0" bIns="0" rtlCol="0" anchor="t"/>
          <a:lstStyle/>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2</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No.  Name                Phone         Email</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1    Amit Sharma         9123456780    amit@mail.com</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2    Roshani Wankhede    9876543210    roshani@gmail.com</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3</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Search name/phone: </a:t>
            </a:r>
            <a:r>
              <a:rPr lang="en-US" sz="1100" b="1" dirty="0">
                <a:solidFill>
                  <a:srgbClr val="FFD166"/>
                </a:solidFill>
                <a:latin typeface="Courier New" pitchFamily="34" charset="0"/>
                <a:ea typeface="Courier New" pitchFamily="34" charset="-122"/>
                <a:cs typeface="Courier New" pitchFamily="34" charset="-120"/>
              </a:rPr>
              <a:t>rosh</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No.  Name                Phone         Email</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8EEF5"/>
                </a:solidFill>
                <a:latin typeface="Courier New" pitchFamily="34" charset="0"/>
                <a:ea typeface="Courier New" pitchFamily="34" charset="-122"/>
                <a:cs typeface="Courier New" pitchFamily="34" charset="-120"/>
              </a:rPr>
              <a:t>1    Roshani Wankhede    9876543210    roshani@gmail.com</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4</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Name of contact to edit: </a:t>
            </a:r>
            <a:r>
              <a:rPr lang="en-US" sz="1100" b="1" dirty="0">
                <a:solidFill>
                  <a:srgbClr val="FFD166"/>
                </a:solidFill>
                <a:latin typeface="Courier New" pitchFamily="34" charset="0"/>
                <a:ea typeface="Courier New" pitchFamily="34" charset="-122"/>
                <a:cs typeface="Courier New" pitchFamily="34" charset="-120"/>
              </a:rPr>
              <a:t>Amit Sharma</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New phone (Enter to skip): </a:t>
            </a:r>
            <a:r>
              <a:rPr lang="en-US" sz="1100" b="1" dirty="0">
                <a:solidFill>
                  <a:srgbClr val="FFD166"/>
                </a:solidFill>
                <a:latin typeface="Courier New" pitchFamily="34" charset="0"/>
                <a:ea typeface="Courier New" pitchFamily="34" charset="-122"/>
                <a:cs typeface="Courier New" pitchFamily="34" charset="-120"/>
              </a:rPr>
              <a:t>9000011111</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New email (Enter to skip): </a:t>
            </a:r>
            <a:r>
              <a:rPr lang="en-US" sz="1100" b="1" dirty="0">
                <a:solidFill>
                  <a:srgbClr val="FFD166"/>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rgbClr val="8FD694"/>
                </a:solidFill>
                <a:latin typeface="Courier New" pitchFamily="34" charset="0"/>
                <a:ea typeface="Courier New" pitchFamily="34" charset="-122"/>
                <a:cs typeface="Courier New" pitchFamily="34" charset="-120"/>
              </a:rPr>
              <a:t>Contact updated successfully.</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5</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Name of contact to delete: </a:t>
            </a:r>
            <a:r>
              <a:rPr lang="en-US" sz="1100" b="1" dirty="0">
                <a:solidFill>
                  <a:srgbClr val="FFD166"/>
                </a:solidFill>
                <a:latin typeface="Courier New" pitchFamily="34" charset="0"/>
                <a:ea typeface="Courier New" pitchFamily="34" charset="-122"/>
                <a:cs typeface="Courier New" pitchFamily="34" charset="-120"/>
              </a:rPr>
              <a:t>Amit Sharma</a:t>
            </a:r>
            <a:endParaRPr lang="en-US" sz="1100" dirty="0"/>
          </a:p>
          <a:p>
            <a:pPr marL="0" indent="0">
              <a:buNone/>
            </a:pPr>
            <a:r>
              <a:rPr lang="en-US" sz="1100" dirty="0">
                <a:solidFill>
                  <a:srgbClr val="8FD694"/>
                </a:solidFill>
                <a:latin typeface="Courier New" pitchFamily="34" charset="0"/>
                <a:ea typeface="Courier New" pitchFamily="34" charset="-122"/>
                <a:cs typeface="Courier New" pitchFamily="34" charset="-120"/>
              </a:rPr>
              <a:t>Contact deleted successfully.</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7</a:t>
            </a:r>
            <a:endParaRPr lang="en-US" sz="1100" dirty="0"/>
          </a:p>
          <a:p>
            <a:pPr marL="0" indent="0">
              <a:buNone/>
            </a:pPr>
            <a:r>
              <a:rPr lang="en-US" sz="1100" dirty="0">
                <a:solidFill>
                  <a:srgbClr val="FF8A80"/>
                </a:solidFill>
                <a:latin typeface="Courier New" pitchFamily="34" charset="0"/>
                <a:ea typeface="Courier New" pitchFamily="34" charset="-122"/>
                <a:cs typeface="Courier New" pitchFamily="34" charset="-120"/>
              </a:rPr>
              <a:t>Invalid choice. Please enter a number from 1 to 6.</a:t>
            </a:r>
            <a:endParaRPr lang="en-US" sz="1100" dirty="0"/>
          </a:p>
          <a:p>
            <a:pPr marL="0" indent="0">
              <a:buNone/>
            </a:pPr>
            <a:r>
              <a:rPr lang="en-US" sz="1100" dirty="0">
                <a:solidFill>
                  <a:srgbClr val="C9D4E3"/>
                </a:solidFill>
                <a:latin typeface="Courier New" pitchFamily="34" charset="0"/>
                <a:ea typeface="Courier New" pitchFamily="34" charset="-122"/>
                <a:cs typeface="Courier New" pitchFamily="34" charset="-120"/>
              </a:rPr>
              <a:t>Enter your choice (1-6): </a:t>
            </a:r>
            <a:r>
              <a:rPr lang="en-US" sz="1100" b="1" dirty="0">
                <a:solidFill>
                  <a:srgbClr val="FFD166"/>
                </a:solidFill>
                <a:latin typeface="Courier New" pitchFamily="34" charset="0"/>
                <a:ea typeface="Courier New" pitchFamily="34" charset="-122"/>
                <a:cs typeface="Courier New" pitchFamily="34" charset="-120"/>
              </a:rPr>
              <a:t>6</a:t>
            </a:r>
            <a:endParaRPr lang="en-US" sz="1100" dirty="0"/>
          </a:p>
          <a:p>
            <a:pPr marL="0" indent="0">
              <a:buNone/>
            </a:pPr>
            <a:r>
              <a:rPr lang="en-US" sz="1100" dirty="0">
                <a:solidFill>
                  <a:srgbClr val="8FD694"/>
                </a:solidFill>
                <a:latin typeface="Courier New" pitchFamily="34" charset="0"/>
                <a:ea typeface="Courier New" pitchFamily="34" charset="-122"/>
                <a:cs typeface="Courier New" pitchFamily="34" charset="-120"/>
              </a:rPr>
              <a:t>Contacts saved. Goodbye!</a:t>
            </a:r>
            <a:endParaRPr lang="en-US" sz="1100" dirty="0"/>
          </a:p>
        </p:txBody>
      </p:sp>
      <p:sp>
        <p:nvSpPr>
          <p:cNvPr id="9" name="Text 7"/>
          <p:cNvSpPr txBox="1"/>
          <p:nvPr/>
        </p:nvSpPr>
        <p:spPr>
          <a:xfrm>
            <a:off x="6355080" y="1188720"/>
            <a:ext cx="2377440" cy="320040"/>
          </a:xfrm>
          <a:prstGeom prst="rect">
            <a:avLst/>
          </a:prstGeom>
          <a:noFill/>
          <a:ln/>
        </p:spPr>
        <p:txBody>
          <a:bodyPr wrap="square" lIns="0" tIns="0" rIns="0" bIns="0" rtlCol="0" anchor="ctr"/>
          <a:lstStyle/>
          <a:p>
            <a:pPr marL="0" indent="0">
              <a:buNone/>
            </a:pPr>
            <a:r>
              <a:rPr lang="en-US" sz="1600" b="1" dirty="0">
                <a:solidFill>
                  <a:srgbClr val="1B365D"/>
                </a:solidFill>
                <a:latin typeface="Arial" pitchFamily="34" charset="0"/>
                <a:ea typeface="Arial" pitchFamily="34" charset="-122"/>
                <a:cs typeface="Arial" pitchFamily="34" charset="-120"/>
              </a:rPr>
              <a:t>What this shows</a:t>
            </a:r>
            <a:endParaRPr lang="en-US" sz="1600" dirty="0"/>
          </a:p>
        </p:txBody>
      </p:sp>
      <p:sp>
        <p:nvSpPr>
          <p:cNvPr id="10" name="Text 8"/>
          <p:cNvSpPr txBox="1"/>
          <p:nvPr/>
        </p:nvSpPr>
        <p:spPr>
          <a:xfrm>
            <a:off x="6355080" y="167335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1" name="Text 9"/>
          <p:cNvSpPr txBox="1"/>
          <p:nvPr/>
        </p:nvSpPr>
        <p:spPr>
          <a:xfrm>
            <a:off x="6720840" y="164592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View shows a sorted table</a:t>
            </a:r>
            <a:endParaRPr lang="en-US" sz="1300" dirty="0"/>
          </a:p>
        </p:txBody>
      </p:sp>
      <p:sp>
        <p:nvSpPr>
          <p:cNvPr id="12" name="Text 10"/>
          <p:cNvSpPr txBox="1"/>
          <p:nvPr/>
        </p:nvSpPr>
        <p:spPr>
          <a:xfrm>
            <a:off x="6355080" y="245059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3" name="Text 11"/>
          <p:cNvSpPr txBox="1"/>
          <p:nvPr/>
        </p:nvSpPr>
        <p:spPr>
          <a:xfrm>
            <a:off x="6720840" y="242316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Search "rosh" finds the contact</a:t>
            </a:r>
            <a:endParaRPr lang="en-US" sz="1300" dirty="0"/>
          </a:p>
        </p:txBody>
      </p:sp>
      <p:sp>
        <p:nvSpPr>
          <p:cNvPr id="14" name="Text 12"/>
          <p:cNvSpPr txBox="1"/>
          <p:nvPr/>
        </p:nvSpPr>
        <p:spPr>
          <a:xfrm>
            <a:off x="6355080" y="322783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5" name="Text 13"/>
          <p:cNvSpPr txBox="1"/>
          <p:nvPr/>
        </p:nvSpPr>
        <p:spPr>
          <a:xfrm>
            <a:off x="6720840" y="320040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Edit updates the phone number</a:t>
            </a:r>
            <a:endParaRPr lang="en-US" sz="1300" dirty="0"/>
          </a:p>
        </p:txBody>
      </p:sp>
      <p:sp>
        <p:nvSpPr>
          <p:cNvPr id="16" name="Text 14"/>
          <p:cNvSpPr txBox="1"/>
          <p:nvPr/>
        </p:nvSpPr>
        <p:spPr>
          <a:xfrm>
            <a:off x="6355080" y="400507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7" name="Text 15"/>
          <p:cNvSpPr txBox="1"/>
          <p:nvPr/>
        </p:nvSpPr>
        <p:spPr>
          <a:xfrm>
            <a:off x="6720840" y="397764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Delete removes the record</a:t>
            </a:r>
            <a:endParaRPr lang="en-US" sz="1300" dirty="0"/>
          </a:p>
        </p:txBody>
      </p:sp>
      <p:sp>
        <p:nvSpPr>
          <p:cNvPr id="18" name="Text 16"/>
          <p:cNvSpPr txBox="1"/>
          <p:nvPr/>
        </p:nvSpPr>
        <p:spPr>
          <a:xfrm>
            <a:off x="6355080" y="4782312"/>
            <a:ext cx="256032" cy="256032"/>
          </a:xfrm>
          <a:prstGeom prst="ellipse">
            <a:avLst/>
          </a:prstGeom>
          <a:solidFill>
            <a:srgbClr val="2E8B57"/>
          </a:solidFill>
          <a:ln>
            <a:solidFill>
              <a:srgbClr val="2E8B57"/>
            </a:solid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9" name="Text 17"/>
          <p:cNvSpPr txBox="1"/>
          <p:nvPr/>
        </p:nvSpPr>
        <p:spPr>
          <a:xfrm>
            <a:off x="6720840" y="4754880"/>
            <a:ext cx="1965960" cy="685800"/>
          </a:xfrm>
          <a:prstGeom prst="rect">
            <a:avLst/>
          </a:prstGeom>
          <a:noFill/>
          <a:ln/>
        </p:spPr>
        <p:txBody>
          <a:bodyPr wrap="square" lIns="0" tIns="0" rIns="0" bIns="0" rtlCol="0" anchor="t"/>
          <a:lstStyle/>
          <a:p>
            <a:pPr marL="0" indent="0">
              <a:buNone/>
            </a:pPr>
            <a:r>
              <a:rPr lang="en-US" sz="1300" dirty="0">
                <a:solidFill>
                  <a:srgbClr val="1F2937"/>
                </a:solidFill>
                <a:latin typeface="Arial" pitchFamily="34" charset="0"/>
                <a:ea typeface="Arial" pitchFamily="34" charset="-122"/>
                <a:cs typeface="Arial" pitchFamily="34" charset="-120"/>
              </a:rPr>
              <a:t>Invalid choice handled; data saved on exit</a:t>
            </a:r>
            <a:endParaRPr lang="en-US" sz="13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Testing</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4023360"/>
        </p:xfrm>
        <a:graphic>
          <a:graphicData uri="http://schemas.openxmlformats.org/drawingml/2006/table">
            <a:tbl>
              <a:tblPr/>
              <a:tblGrid>
                <a:gridCol w="41148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65760">
                <a:tc>
                  <a:txBody>
                    <a:bodyPr/>
                    <a:lstStyle/>
                    <a:p>
                      <a:pPr marL="0" indent="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B36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Test case</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B36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B36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Expected result</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B365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Result</a:t>
                      </a:r>
                      <a:endParaRPr lang="en-US" sz="120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1B365D"/>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Add valid contact</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"Amit", "9123456780"</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Added; count becomes 2</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1"/>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Duplicate name</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"roshani" again</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Rejected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Invalid phone</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"12345"</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Rejected (10 digits needed)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3"/>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Invalid email</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"bad@"</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Rejected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Empty name</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  " (spaces)</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Rejected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5"/>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Search</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"rosh", "98765", "zzz"</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1, 1 and 0 matches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Edit existing / missing</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9111111111 / "Nobody"</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Updated / Not found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7"/>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Delete twice</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"Roshani" x2</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Deleted, then Not found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9</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Save and load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temporary JSON file</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Same data reloaded</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EAF0F1"/>
                    </a:solidFill>
                  </a:tcPr>
                </a:tc>
                <a:extLst>
                  <a:ext uri="{0D108BD9-81ED-4DB2-BD59-A6C34878D82A}">
                    <a16:rowId xmlns:a16="http://schemas.microsoft.com/office/drawing/2014/main" val="10009"/>
                  </a:ext>
                </a:extLst>
              </a:tr>
              <a:tr h="365760">
                <a:tc>
                  <a:txBody>
                    <a:bodyPr/>
                    <a:lstStyle/>
                    <a:p>
                      <a:pPr marL="0" indent="0" algn="ctr">
                        <a:buNone/>
                      </a:pPr>
                      <a:r>
                        <a:rPr lang="en-US" sz="1150" dirty="0">
                          <a:solidFill>
                            <a:srgbClr val="1F2937"/>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b="1" dirty="0">
                          <a:solidFill>
                            <a:srgbClr val="1F2937"/>
                          </a:solidFill>
                          <a:latin typeface="Arial" pitchFamily="34" charset="0"/>
                          <a:ea typeface="Arial" pitchFamily="34" charset="-122"/>
                          <a:cs typeface="Arial" pitchFamily="34" charset="-120"/>
                        </a:rPr>
                        <a:t>Missing / corrupt file</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latin typeface="Courier New" pitchFamily="34" charset="0"/>
                          <a:ea typeface="Courier New" pitchFamily="34" charset="-122"/>
                          <a:cs typeface="Courier New" pitchFamily="34" charset="-120"/>
                        </a:rPr>
                        <a:t>none.json, bad.json</a:t>
                      </a:r>
                      <a:endParaRPr lang="en-US" sz="1050" dirty="0">
                        <a:latin typeface="Courier New" charset="0"/>
                        <a:ea typeface="Courier New" charset="0"/>
                        <a:cs typeface="Courier New"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Arial" pitchFamily="34" charset="0"/>
                          <a:ea typeface="Arial" pitchFamily="34" charset="-122"/>
                          <a:cs typeface="Arial" pitchFamily="34" charset="-120"/>
                        </a:rPr>
                        <a:t>Empty list, no crash</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8B57"/>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73152" marR="73152"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4" name="Text 1"/>
          <p:cNvSpPr txBox="1"/>
          <p:nvPr/>
        </p:nvSpPr>
        <p:spPr>
          <a:xfrm>
            <a:off x="548640" y="5349240"/>
            <a:ext cx="8046720" cy="594360"/>
          </a:xfrm>
          <a:prstGeom prst="roundRect">
            <a:avLst>
              <a:gd name="adj" fmla="val 12308"/>
            </a:avLst>
          </a:prstGeom>
          <a:solidFill>
            <a:srgbClr val="2E8B57"/>
          </a:solidFill>
          <a:ln>
            <a:solidFill>
              <a:srgbClr val="2E8B57"/>
            </a:solidFill>
          </a:ln>
        </p:spPr>
        <p:txBody>
          <a:bodyPr wrap="square" lIns="1270" tIns="1270" rIns="1270" bIns="127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Ran 11 tests — OK</a:t>
            </a:r>
            <a:r>
              <a:rPr lang="en-US" sz="1200" dirty="0">
                <a:solidFill>
                  <a:srgbClr val="CADCE0"/>
                </a:solidFill>
                <a:latin typeface="Courier New" pitchFamily="34" charset="0"/>
                <a:ea typeface="Courier New" pitchFamily="34" charset="-122"/>
                <a:cs typeface="Courier New" pitchFamily="34" charset="-120"/>
              </a:rPr>
              <a:t>   python -m unittest -v</a:t>
            </a:r>
            <a:endParaRPr lang="en-US" sz="1800" dirty="0"/>
          </a:p>
        </p:txBody>
      </p:sp>
      <p:sp>
        <p:nvSpPr>
          <p:cNvPr id="25"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GitHub Collaboration</a:t>
            </a:r>
            <a:endParaRPr lang="en-US" sz="3000" dirty="0"/>
          </a:p>
        </p:txBody>
      </p:sp>
      <p:sp>
        <p:nvSpPr>
          <p:cNvPr id="3" name="Shape 1"/>
          <p:cNvSpPr/>
          <p:nvPr/>
        </p:nvSpPr>
        <p:spPr>
          <a:xfrm>
            <a:off x="777240" y="1417320"/>
            <a:ext cx="0" cy="3840480"/>
          </a:xfrm>
          <a:prstGeom prst="line">
            <a:avLst/>
          </a:prstGeom>
          <a:noFill/>
          <a:ln w="25400">
            <a:solidFill>
              <a:srgbClr val="8FAAAD"/>
            </a:solidFill>
            <a:prstDash val="solid"/>
          </a:ln>
        </p:spPr>
      </p:sp>
      <p:sp>
        <p:nvSpPr>
          <p:cNvPr id="4" name="Shape 2"/>
          <p:cNvSpPr/>
          <p:nvPr/>
        </p:nvSpPr>
        <p:spPr>
          <a:xfrm>
            <a:off x="658368" y="1289304"/>
            <a:ext cx="237744" cy="237744"/>
          </a:xfrm>
          <a:prstGeom prst="ellipse">
            <a:avLst/>
          </a:prstGeom>
          <a:solidFill>
            <a:srgbClr val="1B365D"/>
          </a:solidFill>
          <a:ln w="25400">
            <a:solidFill>
              <a:srgbClr val="FFFFFF"/>
            </a:solidFill>
            <a:prstDash val="solid"/>
          </a:ln>
        </p:spPr>
      </p:sp>
      <p:sp>
        <p:nvSpPr>
          <p:cNvPr id="5" name="Text 3"/>
          <p:cNvSpPr txBox="1"/>
          <p:nvPr/>
        </p:nvSpPr>
        <p:spPr>
          <a:xfrm>
            <a:off x="1143000" y="123444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Initial setup</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Project structure, README stub</a:t>
            </a:r>
            <a:endParaRPr lang="en-US" sz="1350" dirty="0"/>
          </a:p>
        </p:txBody>
      </p:sp>
      <p:sp>
        <p:nvSpPr>
          <p:cNvPr id="6" name="Shape 4"/>
          <p:cNvSpPr/>
          <p:nvPr/>
        </p:nvSpPr>
        <p:spPr>
          <a:xfrm>
            <a:off x="658368" y="1837944"/>
            <a:ext cx="237744" cy="237744"/>
          </a:xfrm>
          <a:prstGeom prst="ellipse">
            <a:avLst/>
          </a:prstGeom>
          <a:solidFill>
            <a:srgbClr val="1B365D"/>
          </a:solidFill>
          <a:ln w="25400">
            <a:solidFill>
              <a:srgbClr val="FFFFFF"/>
            </a:solidFill>
            <a:prstDash val="solid"/>
          </a:ln>
        </p:spPr>
      </p:sp>
      <p:sp>
        <p:nvSpPr>
          <p:cNvPr id="7" name="Text 5"/>
          <p:cNvSpPr txBox="1"/>
          <p:nvPr/>
        </p:nvSpPr>
        <p:spPr>
          <a:xfrm>
            <a:off x="1143000" y="178308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Add Contact</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add_contact() with validation</a:t>
            </a:r>
            <a:endParaRPr lang="en-US" sz="1350" dirty="0"/>
          </a:p>
        </p:txBody>
      </p:sp>
      <p:sp>
        <p:nvSpPr>
          <p:cNvPr id="8" name="Shape 6"/>
          <p:cNvSpPr/>
          <p:nvPr/>
        </p:nvSpPr>
        <p:spPr>
          <a:xfrm>
            <a:off x="658368" y="2386584"/>
            <a:ext cx="237744" cy="237744"/>
          </a:xfrm>
          <a:prstGeom prst="ellipse">
            <a:avLst/>
          </a:prstGeom>
          <a:solidFill>
            <a:srgbClr val="1B365D"/>
          </a:solidFill>
          <a:ln w="25400">
            <a:solidFill>
              <a:srgbClr val="FFFFFF"/>
            </a:solidFill>
            <a:prstDash val="solid"/>
          </a:ln>
        </p:spPr>
      </p:sp>
      <p:sp>
        <p:nvSpPr>
          <p:cNvPr id="9" name="Text 7"/>
          <p:cNvSpPr txBox="1"/>
          <p:nvPr/>
        </p:nvSpPr>
        <p:spPr>
          <a:xfrm>
            <a:off x="1143000" y="233172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View &amp; Search</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show_contacts(), search_contacts()</a:t>
            </a:r>
            <a:endParaRPr lang="en-US" sz="1350" dirty="0"/>
          </a:p>
        </p:txBody>
      </p:sp>
      <p:sp>
        <p:nvSpPr>
          <p:cNvPr id="10" name="Shape 8"/>
          <p:cNvSpPr/>
          <p:nvPr/>
        </p:nvSpPr>
        <p:spPr>
          <a:xfrm>
            <a:off x="658368" y="2935224"/>
            <a:ext cx="237744" cy="237744"/>
          </a:xfrm>
          <a:prstGeom prst="ellipse">
            <a:avLst/>
          </a:prstGeom>
          <a:solidFill>
            <a:srgbClr val="1B365D"/>
          </a:solidFill>
          <a:ln w="25400">
            <a:solidFill>
              <a:srgbClr val="FFFFFF"/>
            </a:solidFill>
            <a:prstDash val="solid"/>
          </a:ln>
        </p:spPr>
      </p:sp>
      <p:sp>
        <p:nvSpPr>
          <p:cNvPr id="11" name="Text 9"/>
          <p:cNvSpPr txBox="1"/>
          <p:nvPr/>
        </p:nvSpPr>
        <p:spPr>
          <a:xfrm>
            <a:off x="1143000" y="288036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Edit &amp; Delete</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edit_contact(), delete_contact()</a:t>
            </a:r>
            <a:endParaRPr lang="en-US" sz="1350" dirty="0"/>
          </a:p>
        </p:txBody>
      </p:sp>
      <p:sp>
        <p:nvSpPr>
          <p:cNvPr id="12" name="Shape 10"/>
          <p:cNvSpPr/>
          <p:nvPr/>
        </p:nvSpPr>
        <p:spPr>
          <a:xfrm>
            <a:off x="658368" y="3483864"/>
            <a:ext cx="237744" cy="237744"/>
          </a:xfrm>
          <a:prstGeom prst="ellipse">
            <a:avLst/>
          </a:prstGeom>
          <a:solidFill>
            <a:srgbClr val="1B365D"/>
          </a:solidFill>
          <a:ln w="25400">
            <a:solidFill>
              <a:srgbClr val="FFFFFF"/>
            </a:solidFill>
            <a:prstDash val="solid"/>
          </a:ln>
        </p:spPr>
      </p:sp>
      <p:sp>
        <p:nvSpPr>
          <p:cNvPr id="13" name="Text 11"/>
          <p:cNvSpPr txBox="1"/>
          <p:nvPr/>
        </p:nvSpPr>
        <p:spPr>
          <a:xfrm>
            <a:off x="1143000" y="342900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File handling</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load / save contacts.json</a:t>
            </a:r>
            <a:endParaRPr lang="en-US" sz="1350" dirty="0"/>
          </a:p>
        </p:txBody>
      </p:sp>
      <p:sp>
        <p:nvSpPr>
          <p:cNvPr id="14" name="Shape 12"/>
          <p:cNvSpPr/>
          <p:nvPr/>
        </p:nvSpPr>
        <p:spPr>
          <a:xfrm>
            <a:off x="658368" y="4032504"/>
            <a:ext cx="237744" cy="237744"/>
          </a:xfrm>
          <a:prstGeom prst="ellipse">
            <a:avLst/>
          </a:prstGeom>
          <a:solidFill>
            <a:srgbClr val="1B365D"/>
          </a:solidFill>
          <a:ln w="25400">
            <a:solidFill>
              <a:srgbClr val="FFFFFF"/>
            </a:solidFill>
            <a:prstDash val="solid"/>
          </a:ln>
        </p:spPr>
      </p:sp>
      <p:sp>
        <p:nvSpPr>
          <p:cNvPr id="15" name="Text 13"/>
          <p:cNvSpPr txBox="1"/>
          <p:nvPr/>
        </p:nvSpPr>
        <p:spPr>
          <a:xfrm>
            <a:off x="1143000" y="397764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Exception handling</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input checks, safe file loading</a:t>
            </a:r>
            <a:endParaRPr lang="en-US" sz="1350" dirty="0"/>
          </a:p>
        </p:txBody>
      </p:sp>
      <p:sp>
        <p:nvSpPr>
          <p:cNvPr id="16" name="Shape 14"/>
          <p:cNvSpPr/>
          <p:nvPr/>
        </p:nvSpPr>
        <p:spPr>
          <a:xfrm>
            <a:off x="658368" y="4581144"/>
            <a:ext cx="237744" cy="237744"/>
          </a:xfrm>
          <a:prstGeom prst="ellipse">
            <a:avLst/>
          </a:prstGeom>
          <a:solidFill>
            <a:srgbClr val="1B365D"/>
          </a:solidFill>
          <a:ln w="25400">
            <a:solidFill>
              <a:srgbClr val="FFFFFF"/>
            </a:solidFill>
            <a:prstDash val="solid"/>
          </a:ln>
        </p:spPr>
      </p:sp>
      <p:sp>
        <p:nvSpPr>
          <p:cNvPr id="17" name="Text 15"/>
          <p:cNvSpPr txBox="1"/>
          <p:nvPr/>
        </p:nvSpPr>
        <p:spPr>
          <a:xfrm>
            <a:off x="1143000" y="452628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Unit tests</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test_contact_book.py (11 tests)</a:t>
            </a:r>
            <a:endParaRPr lang="en-US" sz="1350" dirty="0"/>
          </a:p>
        </p:txBody>
      </p:sp>
      <p:sp>
        <p:nvSpPr>
          <p:cNvPr id="18" name="Shape 16"/>
          <p:cNvSpPr/>
          <p:nvPr/>
        </p:nvSpPr>
        <p:spPr>
          <a:xfrm>
            <a:off x="658368" y="5129784"/>
            <a:ext cx="237744" cy="237744"/>
          </a:xfrm>
          <a:prstGeom prst="ellipse">
            <a:avLst/>
          </a:prstGeom>
          <a:solidFill>
            <a:srgbClr val="E8A33D"/>
          </a:solidFill>
          <a:ln w="25400">
            <a:solidFill>
              <a:srgbClr val="FFFFFF"/>
            </a:solidFill>
            <a:prstDash val="solid"/>
          </a:ln>
        </p:spPr>
      </p:sp>
      <p:sp>
        <p:nvSpPr>
          <p:cNvPr id="19" name="Text 17"/>
          <p:cNvSpPr txBox="1"/>
          <p:nvPr/>
        </p:nvSpPr>
        <p:spPr>
          <a:xfrm>
            <a:off x="1143000" y="5074920"/>
            <a:ext cx="3566160" cy="457200"/>
          </a:xfrm>
          <a:prstGeom prst="rect">
            <a:avLst/>
          </a:prstGeom>
          <a:noFill/>
          <a:ln/>
        </p:spPr>
        <p:txBody>
          <a:bodyPr wrap="square" lIns="0" tIns="0" rIns="0" bIns="0" rtlCol="0" anchor="t"/>
          <a:lstStyle/>
          <a:p>
            <a:pPr marL="0" indent="0">
              <a:buNone/>
            </a:pPr>
            <a:r>
              <a:rPr lang="en-US" sz="1350" b="1" dirty="0">
                <a:solidFill>
                  <a:srgbClr val="1F2937"/>
                </a:solidFill>
                <a:latin typeface="Arial" pitchFamily="34" charset="0"/>
                <a:ea typeface="Arial" pitchFamily="34" charset="-122"/>
                <a:cs typeface="Arial" pitchFamily="34" charset="-120"/>
              </a:rPr>
              <a:t>README update</a:t>
            </a:r>
            <a:endParaRPr lang="en-US" sz="1350" dirty="0"/>
          </a:p>
          <a:p>
            <a:pPr marL="0" indent="0">
              <a:buNone/>
            </a:pPr>
            <a:r>
              <a:rPr lang="en-US" sz="1150" dirty="0">
                <a:solidFill>
                  <a:srgbClr val="5B6B7B"/>
                </a:solidFill>
                <a:latin typeface="Arial" pitchFamily="34" charset="0"/>
                <a:ea typeface="Arial" pitchFamily="34" charset="-122"/>
                <a:cs typeface="Arial" pitchFamily="34" charset="-120"/>
              </a:rPr>
              <a:t>usage, sample output, tests</a:t>
            </a:r>
            <a:endParaRPr lang="en-US" sz="1350" dirty="0"/>
          </a:p>
        </p:txBody>
      </p:sp>
      <p:sp>
        <p:nvSpPr>
          <p:cNvPr id="20" name="Shape 18"/>
          <p:cNvSpPr/>
          <p:nvPr/>
        </p:nvSpPr>
        <p:spPr>
          <a:xfrm>
            <a:off x="4983480" y="1234440"/>
            <a:ext cx="3611880" cy="2103120"/>
          </a:xfrm>
          <a:prstGeom prst="roundRect">
            <a:avLst>
              <a:gd name="adj" fmla="val 3478"/>
            </a:avLst>
          </a:prstGeom>
          <a:solidFill>
            <a:srgbClr val="EAF0F1"/>
          </a:solidFill>
          <a:ln w="12700">
            <a:solidFill>
              <a:srgbClr val="EAF0F1"/>
            </a:solidFill>
            <a:prstDash val="solid"/>
          </a:ln>
        </p:spPr>
      </p:sp>
      <p:sp>
        <p:nvSpPr>
          <p:cNvPr id="21" name="Text 19"/>
          <p:cNvSpPr txBox="1"/>
          <p:nvPr/>
        </p:nvSpPr>
        <p:spPr>
          <a:xfrm>
            <a:off x="5166360" y="1493364"/>
            <a:ext cx="3200400" cy="320040"/>
          </a:xfrm>
          <a:prstGeom prst="rect">
            <a:avLst/>
          </a:prstGeom>
          <a:noFill/>
          <a:ln/>
        </p:spPr>
        <p:txBody>
          <a:bodyPr wrap="square" lIns="0" tIns="0" rIns="0" bIns="0" rtlCol="0" anchor="ctr"/>
          <a:lstStyle/>
          <a:p>
            <a:r>
              <a:rPr lang="en-US" sz="1400" b="1" dirty="0">
                <a:solidFill>
                  <a:srgbClr val="1B365D"/>
                </a:solidFill>
                <a:latin typeface="Arial" pitchFamily="34" charset="0"/>
                <a:ea typeface="Arial" pitchFamily="34" charset="-122"/>
                <a:cs typeface="Arial" pitchFamily="34" charset="-120"/>
              </a:rPr>
              <a:t>Repository:</a:t>
            </a:r>
          </a:p>
          <a:p>
            <a:r>
              <a:rPr lang="en-US" sz="1200" dirty="0">
                <a:solidFill>
                  <a:srgbClr val="1B365D"/>
                </a:solidFill>
                <a:latin typeface="Arial" pitchFamily="34" charset="0"/>
                <a:ea typeface="Arial" pitchFamily="34" charset="-122"/>
                <a:cs typeface="Arial" pitchFamily="34" charset="-120"/>
              </a:rPr>
              <a:t>https://github.com/roshaniwml25-dev/Python-Contact-Book.git</a:t>
            </a:r>
            <a:endParaRPr lang="en-US" sz="1200" dirty="0"/>
          </a:p>
        </p:txBody>
      </p:sp>
      <p:sp>
        <p:nvSpPr>
          <p:cNvPr id="22" name="Text 20"/>
          <p:cNvSpPr txBox="1"/>
          <p:nvPr/>
        </p:nvSpPr>
        <p:spPr>
          <a:xfrm>
            <a:off x="5166360" y="2011680"/>
            <a:ext cx="3200400" cy="1371600"/>
          </a:xfrm>
          <a:prstGeom prst="rect">
            <a:avLst/>
          </a:prstGeom>
          <a:noFill/>
          <a:ln/>
        </p:spPr>
        <p:txBody>
          <a:bodyPr wrap="square" lIns="0" tIns="0" rIns="0" bIns="0" rtlCol="0" anchor="t"/>
          <a:lstStyle/>
          <a:p>
            <a:pPr marL="0" indent="0">
              <a:spcAft>
                <a:spcPts val="400"/>
              </a:spcAft>
              <a:buNone/>
            </a:pPr>
            <a:r>
              <a:rPr lang="en-US" sz="1400" dirty="0">
                <a:solidFill>
                  <a:srgbClr val="1F2937"/>
                </a:solidFill>
                <a:latin typeface="Courier New" pitchFamily="34" charset="0"/>
                <a:ea typeface="Courier New" pitchFamily="34" charset="-122"/>
                <a:cs typeface="Courier New" pitchFamily="34" charset="-120"/>
              </a:rPr>
              <a:t>contact_book.py</a:t>
            </a:r>
            <a:endParaRPr lang="en-US" sz="1400" dirty="0"/>
          </a:p>
          <a:p>
            <a:pPr marL="0" indent="0">
              <a:spcAft>
                <a:spcPts val="400"/>
              </a:spcAft>
              <a:buNone/>
            </a:pPr>
            <a:r>
              <a:rPr lang="en-US" sz="1400" dirty="0">
                <a:solidFill>
                  <a:srgbClr val="1F2937"/>
                </a:solidFill>
                <a:latin typeface="Courier New" pitchFamily="34" charset="0"/>
                <a:ea typeface="Courier New" pitchFamily="34" charset="-122"/>
                <a:cs typeface="Courier New" pitchFamily="34" charset="-120"/>
              </a:rPr>
              <a:t>test_contact_book.py</a:t>
            </a:r>
            <a:endParaRPr lang="en-US" sz="1400" dirty="0"/>
          </a:p>
          <a:p>
            <a:pPr marL="0" indent="0">
              <a:spcAft>
                <a:spcPts val="400"/>
              </a:spcAft>
              <a:buNone/>
            </a:pPr>
            <a:r>
              <a:rPr lang="en-US" sz="1400" dirty="0">
                <a:solidFill>
                  <a:srgbClr val="1F2937"/>
                </a:solidFill>
                <a:latin typeface="Courier New" pitchFamily="34" charset="0"/>
                <a:ea typeface="Courier New" pitchFamily="34" charset="-122"/>
                <a:cs typeface="Courier New" pitchFamily="34" charset="-120"/>
              </a:rPr>
              <a:t>README.md</a:t>
            </a:r>
            <a:endParaRPr lang="en-US" sz="1400" dirty="0"/>
          </a:p>
          <a:p>
            <a:pPr marL="0" indent="0">
              <a:spcAft>
                <a:spcPts val="400"/>
              </a:spcAft>
              <a:buNone/>
            </a:pPr>
            <a:r>
              <a:rPr lang="en-US" sz="1400" dirty="0">
                <a:solidFill>
                  <a:srgbClr val="1F2937"/>
                </a:solidFill>
                <a:latin typeface="Courier New" pitchFamily="34" charset="0"/>
                <a:ea typeface="Courier New" pitchFamily="34" charset="-122"/>
                <a:cs typeface="Courier New" pitchFamily="34" charset="-120"/>
              </a:rPr>
              <a:t>.gitignore</a:t>
            </a:r>
            <a:endParaRPr lang="en-US" sz="1400" dirty="0"/>
          </a:p>
        </p:txBody>
      </p:sp>
      <p:sp>
        <p:nvSpPr>
          <p:cNvPr id="23" name="Shape 21"/>
          <p:cNvSpPr/>
          <p:nvPr/>
        </p:nvSpPr>
        <p:spPr>
          <a:xfrm>
            <a:off x="4983480" y="3566160"/>
            <a:ext cx="3611880" cy="2377440"/>
          </a:xfrm>
          <a:prstGeom prst="roundRect">
            <a:avLst>
              <a:gd name="adj" fmla="val 3077"/>
            </a:avLst>
          </a:prstGeom>
          <a:solidFill>
            <a:srgbClr val="EAF0F1"/>
          </a:solidFill>
          <a:ln w="12700">
            <a:solidFill>
              <a:srgbClr val="EAF0F1"/>
            </a:solidFill>
            <a:prstDash val="solid"/>
          </a:ln>
        </p:spPr>
      </p:sp>
      <p:sp>
        <p:nvSpPr>
          <p:cNvPr id="24" name="Text 22"/>
          <p:cNvSpPr txBox="1"/>
          <p:nvPr/>
        </p:nvSpPr>
        <p:spPr>
          <a:xfrm>
            <a:off x="5212080" y="3703320"/>
            <a:ext cx="3200400" cy="32004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How it is maintained</a:t>
            </a:r>
            <a:endParaRPr lang="en-US" sz="1400" dirty="0"/>
          </a:p>
        </p:txBody>
      </p:sp>
      <p:sp>
        <p:nvSpPr>
          <p:cNvPr id="25" name="Text 23"/>
          <p:cNvSpPr txBox="1"/>
          <p:nvPr/>
        </p:nvSpPr>
        <p:spPr>
          <a:xfrm>
            <a:off x="5212080" y="4114800"/>
            <a:ext cx="320040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937"/>
                </a:solidFill>
                <a:latin typeface="Arial" pitchFamily="34" charset="0"/>
                <a:ea typeface="Arial" pitchFamily="34" charset="-122"/>
                <a:cs typeface="Arial" pitchFamily="34" charset="-120"/>
              </a:rPr>
              <a:t>One commit per feature, clear messages</a:t>
            </a:r>
            <a:endParaRPr lang="en-US" sz="1300" dirty="0"/>
          </a:p>
          <a:p>
            <a:pPr marL="177800" indent="-177800">
              <a:spcAft>
                <a:spcPts val="500"/>
              </a:spcAft>
              <a:buSzPct val="100000"/>
              <a:buChar char="•"/>
            </a:pPr>
            <a:r>
              <a:rPr lang="en-US" sz="1300" dirty="0">
                <a:solidFill>
                  <a:srgbClr val="1F2937"/>
                </a:solidFill>
                <a:latin typeface="Arial" pitchFamily="34" charset="0"/>
                <a:ea typeface="Arial" pitchFamily="34" charset="-122"/>
                <a:cs typeface="Arial" pitchFamily="34" charset="-120"/>
              </a:rPr>
              <a:t>Feature branches merged by pull request</a:t>
            </a:r>
            <a:endParaRPr lang="en-US" sz="1300" dirty="0"/>
          </a:p>
          <a:p>
            <a:pPr marL="177800" indent="-177800">
              <a:spcAft>
                <a:spcPts val="500"/>
              </a:spcAft>
              <a:buSzPct val="100000"/>
              <a:buChar char="•"/>
            </a:pPr>
            <a:r>
              <a:rPr lang="en-US" sz="1300" dirty="0">
                <a:solidFill>
                  <a:srgbClr val="1F2937"/>
                </a:solidFill>
                <a:latin typeface="Arial" pitchFamily="34" charset="0"/>
                <a:ea typeface="Arial" pitchFamily="34" charset="-122"/>
                <a:cs typeface="Arial" pitchFamily="34" charset="-120"/>
              </a:rPr>
              <a:t>Issues track the pending tasks</a:t>
            </a:r>
            <a:endParaRPr lang="en-US" sz="1300" dirty="0"/>
          </a:p>
          <a:p>
            <a:pPr marL="177800" indent="-177800">
              <a:spcAft>
                <a:spcPts val="500"/>
              </a:spcAft>
              <a:buSzPct val="100000"/>
              <a:buChar char="•"/>
            </a:pPr>
            <a:r>
              <a:rPr lang="en-US" sz="1300" dirty="0">
                <a:solidFill>
                  <a:srgbClr val="1F2937"/>
                </a:solidFill>
                <a:latin typeface="Arial" pitchFamily="34" charset="0"/>
                <a:ea typeface="Arial" pitchFamily="34" charset="-122"/>
                <a:cs typeface="Arial" pitchFamily="34" charset="-120"/>
              </a:rPr>
              <a:t>contacts.json is git-ignored (personal data)</a:t>
            </a:r>
            <a:endParaRPr lang="en-US" sz="1300" dirty="0"/>
          </a:p>
        </p:txBody>
      </p:sp>
      <p:sp>
        <p:nvSpPr>
          <p:cNvPr id="26" name="Slide Number Placeholder 0"/>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C6F19-1EE8-34A1-1180-7824346197D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60BC490-60D1-7BC3-9965-67BAC447E5F7}"/>
              </a:ext>
            </a:extLst>
          </p:cNvPr>
          <p:cNvSpPr txBox="1"/>
          <p:nvPr/>
        </p:nvSpPr>
        <p:spPr>
          <a:xfrm>
            <a:off x="2909285" y="2903686"/>
            <a:ext cx="8046720" cy="640080"/>
          </a:xfrm>
          <a:prstGeom prst="rect">
            <a:avLst/>
          </a:prstGeom>
          <a:noFill/>
          <a:ln/>
        </p:spPr>
        <p:txBody>
          <a:bodyPr wrap="square" lIns="0" tIns="0" rIns="0" bIns="0" rtlCol="0" anchor="ctr"/>
          <a:lstStyle/>
          <a:p>
            <a:pPr marL="0" indent="0">
              <a:buNone/>
            </a:pPr>
            <a:r>
              <a:rPr lang="en-US" sz="5400" b="1" dirty="0">
                <a:solidFill>
                  <a:srgbClr val="111111"/>
                </a:solidFill>
                <a:latin typeface="Times New Roman" panose="02020603050405020304" pitchFamily="18" charset="0"/>
                <a:ea typeface="Arial" pitchFamily="34" charset="-122"/>
                <a:cs typeface="Times New Roman" panose="02020603050405020304" pitchFamily="18" charset="0"/>
              </a:rPr>
              <a:t>Thank You</a:t>
            </a:r>
            <a:endParaRPr lang="en-US" sz="5400" dirty="0">
              <a:latin typeface="Times New Roman" panose="02020603050405020304" pitchFamily="18" charset="0"/>
              <a:cs typeface="Times New Roman" panose="02020603050405020304" pitchFamily="18" charset="0"/>
            </a:endParaRPr>
          </a:p>
        </p:txBody>
      </p:sp>
      <p:sp>
        <p:nvSpPr>
          <p:cNvPr id="25" name="Slide Number Placeholder 0">
            <a:extLst>
              <a:ext uri="{FF2B5EF4-FFF2-40B4-BE49-F238E27FC236}">
                <a16:creationId xmlns:a16="http://schemas.microsoft.com/office/drawing/2014/main" id="{9EFD8CD1-4F5B-DA7A-3E0D-E644F3F3A6BC}"/>
              </a:ext>
            </a:extLst>
          </p:cNvPr>
          <p:cNvSpPr>
            <a:spLocks noGrp="1"/>
          </p:cNvSpPr>
          <p:nvPr>
            <p:ph type="sldNum" sz="quarter" idx="4294967295"/>
          </p:nvPr>
        </p:nvSpPr>
        <p:spPr>
          <a:xfrm>
            <a:off x="7863840" y="6309360"/>
            <a:ext cx="822960" cy="429768"/>
          </a:xfrm>
          <a:prstGeom prst="rect">
            <a:avLst/>
          </a:prstGeom>
          <a:extLst>
            <a:ext uri="{C572A759-6A51-4108-AA02-DFA0A04FC94B}">
              <ma14:wrappingTextBoxFlag xmlns="" xmlns:ma14="http://schemas.microsoft.com/office/mac/drawingml/2011/main" val="0"/>
            </a:ext>
          </a:extLst>
        </p:spPr>
        <p:txBody>
          <a:bodyPr anchor="ctr"/>
          <a:lstStyle>
            <a:lvl1pPr>
              <a:defRPr sz="1400">
                <a:solidFill>
                  <a:srgbClr val="1F2D3D"/>
                </a:solidFill>
                <a:latin typeface="Times New Roman"/>
                <a:ea typeface="Times New Roman"/>
                <a:cs typeface="Times New Roman"/>
              </a:defRPr>
            </a:lvl1pPr>
          </a:lstStyle>
          <a:p>
            <a:pPr algn="r"/>
            <a:fld id="{F7021451-1387-4CA6-816F-3879F97B5CBC}" type="slidenum">
              <a:rPr lang="en-US" b="0"/>
              <a:t>17</a:t>
            </a:fld>
            <a:endParaRPr lang="en-US"/>
          </a:p>
        </p:txBody>
      </p:sp>
    </p:spTree>
    <p:extLst>
      <p:ext uri="{BB962C8B-B14F-4D97-AF65-F5344CB8AC3E}">
        <p14:creationId xmlns:p14="http://schemas.microsoft.com/office/powerpoint/2010/main" val="3533047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2551</Words>
  <Application>Microsoft Office PowerPoint</Application>
  <PresentationFormat>On-screen Show (4:3)</PresentationFormat>
  <Paragraphs>476</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 Book using Python - Project Assessment I &amp; II</dc:title>
  <dc:subject>PptxGenJS Presentation</dc:subject>
  <dc:creator>Roshani B. Wankhede</dc:creator>
  <cp:lastModifiedBy>Roshani Wankhede</cp:lastModifiedBy>
  <cp:revision>3</cp:revision>
  <dcterms:created xsi:type="dcterms:W3CDTF">2026-09-19T08:29:57Z</dcterms:created>
  <dcterms:modified xsi:type="dcterms:W3CDTF">2026-09-20T18:42:22Z</dcterms:modified>
</cp:coreProperties>
</file>